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Archivo Black" charset="1" panose="020B0A03020202020B04"/>
      <p:regular r:id="rId23"/>
    </p:embeddedFont>
    <p:embeddedFont>
      <p:font typeface="Garet Bold" charset="1" panose="00000000000000000000"/>
      <p:regular r:id="rId24"/>
    </p:embeddedFont>
    <p:embeddedFont>
      <p:font typeface="Garet" charset="1" panose="00000000000000000000"/>
      <p:regular r:id="rId25"/>
    </p:embeddedFont>
    <p:embeddedFont>
      <p:font typeface="Garet Bold Italics" charset="1" panose="0000000000000000000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Relationship Id="rId7" Target="../media/image10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13.png" Type="http://schemas.openxmlformats.org/officeDocument/2006/relationships/image"/><Relationship Id="rId6" Target="../media/image14.png" Type="http://schemas.openxmlformats.org/officeDocument/2006/relationships/image"/><Relationship Id="rId7" Target="../media/image1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16.png" Type="http://schemas.openxmlformats.org/officeDocument/2006/relationships/image"/><Relationship Id="rId6" Target="../media/image17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6.png" Type="http://schemas.openxmlformats.org/officeDocument/2006/relationships/image"/><Relationship Id="rId4" Target="../media/image17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png" Type="http://schemas.openxmlformats.org/officeDocument/2006/relationships/image"/><Relationship Id="rId11" Target="../media/image26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.jpeg" Type="http://schemas.openxmlformats.org/officeDocument/2006/relationships/image"/><Relationship Id="rId3" Target="../media/image18.pn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Relationship Id="rId8" Target="../media/image23.png" Type="http://schemas.openxmlformats.org/officeDocument/2006/relationships/image"/><Relationship Id="rId9" Target="../media/image24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7.png" Type="http://schemas.openxmlformats.org/officeDocument/2006/relationships/image"/><Relationship Id="rId4" Target="../media/image28.png" Type="http://schemas.openxmlformats.org/officeDocument/2006/relationships/image"/><Relationship Id="rId5" Target="../media/image29.png" Type="http://schemas.openxmlformats.org/officeDocument/2006/relationships/image"/><Relationship Id="rId6" Target="../media/image30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379298" y="8311463"/>
            <a:ext cx="1880002" cy="946837"/>
          </a:xfrm>
          <a:custGeom>
            <a:avLst/>
            <a:gdLst/>
            <a:ahLst/>
            <a:cxnLst/>
            <a:rect r="r" b="b" t="t" l="l"/>
            <a:pathLst>
              <a:path h="946837" w="1880002">
                <a:moveTo>
                  <a:pt x="0" y="0"/>
                </a:moveTo>
                <a:lnTo>
                  <a:pt x="1880002" y="0"/>
                </a:lnTo>
                <a:lnTo>
                  <a:pt x="1880002" y="946837"/>
                </a:lnTo>
                <a:lnTo>
                  <a:pt x="0" y="9468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1028700"/>
            <a:ext cx="797433" cy="707541"/>
          </a:xfrm>
          <a:custGeom>
            <a:avLst/>
            <a:gdLst/>
            <a:ahLst/>
            <a:cxnLst/>
            <a:rect r="r" b="b" t="t" l="l"/>
            <a:pathLst>
              <a:path h="707541" w="797433">
                <a:moveTo>
                  <a:pt x="0" y="0"/>
                </a:moveTo>
                <a:lnTo>
                  <a:pt x="797433" y="0"/>
                </a:lnTo>
                <a:lnTo>
                  <a:pt x="797433" y="707541"/>
                </a:lnTo>
                <a:lnTo>
                  <a:pt x="0" y="70754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317552" y="6179263"/>
            <a:ext cx="13518380" cy="778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958"/>
              </a:lnSpc>
              <a:spcBef>
                <a:spcPct val="0"/>
              </a:spcBef>
            </a:pPr>
            <a:r>
              <a:rPr lang="en-US" sz="2958" spc="-233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Real-time financial truth across distributed banking systems</a:t>
            </a:r>
          </a:p>
          <a:p>
            <a:pPr algn="r" marL="0" indent="0" lvl="0">
              <a:lnSpc>
                <a:spcPts val="2958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373370" y="9239250"/>
            <a:ext cx="7848843" cy="757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9"/>
              </a:lnSpc>
            </a:pPr>
            <a:r>
              <a:rPr lang="en-US" sz="2392" b="true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PRESENTED BY TEAM -  LEDGERFLOW | MITWPU</a:t>
            </a:r>
          </a:p>
          <a:p>
            <a:pPr algn="l" marL="0" indent="0" lvl="0">
              <a:lnSpc>
                <a:spcPts val="3109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850785" y="4487353"/>
            <a:ext cx="15408515" cy="1382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9526"/>
              </a:lnSpc>
              <a:spcBef>
                <a:spcPct val="0"/>
              </a:spcBef>
            </a:pPr>
            <a:r>
              <a:rPr lang="en-US" sz="12213" spc="-964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SENTINAL CORE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57167" y="1176064"/>
            <a:ext cx="5687686" cy="393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90"/>
              </a:lnSpc>
              <a:spcBef>
                <a:spcPct val="0"/>
              </a:spcBef>
            </a:pPr>
            <a:r>
              <a:rPr lang="en-US" b="true" sz="2531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MICROSOFT IMAGINE CUP 25-26</a:t>
            </a:r>
          </a:p>
        </p:txBody>
      </p:sp>
      <p:sp>
        <p:nvSpPr>
          <p:cNvPr name="AutoShape 9" id="9"/>
          <p:cNvSpPr/>
          <p:nvPr/>
        </p:nvSpPr>
        <p:spPr>
          <a:xfrm>
            <a:off x="10343691" y="7132428"/>
            <a:ext cx="64922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12161909" y="0"/>
            <a:ext cx="2611028" cy="4114800"/>
          </a:xfrm>
          <a:custGeom>
            <a:avLst/>
            <a:gdLst/>
            <a:ahLst/>
            <a:cxnLst/>
            <a:rect r="r" b="b" t="t" l="l"/>
            <a:pathLst>
              <a:path h="4114800" w="2611028">
                <a:moveTo>
                  <a:pt x="0" y="0"/>
                </a:moveTo>
                <a:lnTo>
                  <a:pt x="2611027" y="0"/>
                </a:lnTo>
                <a:lnTo>
                  <a:pt x="261102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6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56422" y="2342174"/>
            <a:ext cx="10937181" cy="3469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19"/>
              </a:lnSpc>
              <a:spcBef>
                <a:spcPct val="0"/>
              </a:spcBef>
            </a:pPr>
            <a:r>
              <a:rPr lang="en-US" sz="32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Modern digital transactions pass through multiple systems.</a:t>
            </a:r>
          </a:p>
          <a:p>
            <a:pPr algn="l">
              <a:lnSpc>
                <a:spcPts val="4619"/>
              </a:lnSpc>
              <a:spcBef>
                <a:spcPct val="0"/>
              </a:spcBef>
            </a:pPr>
            <a:r>
              <a:rPr lang="en-US" sz="32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When even one system fails, records drift out of sync.</a:t>
            </a:r>
          </a:p>
          <a:p>
            <a:pPr algn="l">
              <a:lnSpc>
                <a:spcPts val="4619"/>
              </a:lnSpc>
              <a:spcBef>
                <a:spcPct val="0"/>
              </a:spcBef>
            </a:pPr>
          </a:p>
          <a:p>
            <a:pPr algn="l">
              <a:lnSpc>
                <a:spcPts val="4619"/>
              </a:lnSpc>
              <a:spcBef>
                <a:spcPct val="0"/>
              </a:spcBef>
            </a:pPr>
          </a:p>
        </p:txBody>
      </p:sp>
      <p:grpSp>
        <p:nvGrpSpPr>
          <p:cNvPr name="Group 5" id="5"/>
          <p:cNvGrpSpPr/>
          <p:nvPr/>
        </p:nvGrpSpPr>
        <p:grpSpPr>
          <a:xfrm rot="0">
            <a:off x="3209229" y="4981553"/>
            <a:ext cx="4287995" cy="746145"/>
            <a:chOff x="0" y="0"/>
            <a:chExt cx="1194898" cy="2079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94898" cy="207922"/>
            </a:xfrm>
            <a:custGeom>
              <a:avLst/>
              <a:gdLst/>
              <a:ahLst/>
              <a:cxnLst/>
              <a:rect r="r" b="b" t="t" l="l"/>
              <a:pathLst>
                <a:path h="207922" w="1194898">
                  <a:moveTo>
                    <a:pt x="35263" y="0"/>
                  </a:moveTo>
                  <a:lnTo>
                    <a:pt x="1159634" y="0"/>
                  </a:lnTo>
                  <a:cubicBezTo>
                    <a:pt x="1179110" y="0"/>
                    <a:pt x="1194898" y="15788"/>
                    <a:pt x="1194898" y="35263"/>
                  </a:cubicBezTo>
                  <a:lnTo>
                    <a:pt x="1194898" y="172658"/>
                  </a:lnTo>
                  <a:cubicBezTo>
                    <a:pt x="1194898" y="192134"/>
                    <a:pt x="1179110" y="207922"/>
                    <a:pt x="1159634" y="207922"/>
                  </a:cubicBezTo>
                  <a:lnTo>
                    <a:pt x="35263" y="207922"/>
                  </a:lnTo>
                  <a:cubicBezTo>
                    <a:pt x="15788" y="207922"/>
                    <a:pt x="0" y="192134"/>
                    <a:pt x="0" y="172658"/>
                  </a:cubicBezTo>
                  <a:lnTo>
                    <a:pt x="0" y="35263"/>
                  </a:lnTo>
                  <a:cubicBezTo>
                    <a:pt x="0" y="15788"/>
                    <a:pt x="15788" y="0"/>
                    <a:pt x="35263" y="0"/>
                  </a:cubicBezTo>
                  <a:close/>
                </a:path>
              </a:pathLst>
            </a:custGeom>
            <a:solidFill>
              <a:srgbClr val="9D999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194898" cy="2460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b="true" sz="2000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PAYMENT GATEWAY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-5400000">
            <a:off x="4480548" y="5780612"/>
            <a:ext cx="599689" cy="493861"/>
            <a:chOff x="0" y="0"/>
            <a:chExt cx="647700" cy="533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47700" cy="533400"/>
            </a:xfrm>
            <a:custGeom>
              <a:avLst/>
              <a:gdLst/>
              <a:ahLst/>
              <a:cxnLst/>
              <a:rect r="r" b="b" t="t" l="l"/>
              <a:pathLst>
                <a:path h="533400" w="647700">
                  <a:moveTo>
                    <a:pt x="239386" y="166418"/>
                  </a:moveTo>
                  <a:lnTo>
                    <a:pt x="647700" y="166418"/>
                  </a:lnTo>
                  <a:lnTo>
                    <a:pt x="647700" y="366942"/>
                  </a:lnTo>
                  <a:lnTo>
                    <a:pt x="239373" y="366942"/>
                  </a:lnTo>
                  <a:lnTo>
                    <a:pt x="302255" y="533400"/>
                  </a:lnTo>
                  <a:lnTo>
                    <a:pt x="0" y="266700"/>
                  </a:lnTo>
                  <a:lnTo>
                    <a:pt x="302255" y="0"/>
                  </a:lnTo>
                  <a:lnTo>
                    <a:pt x="239386" y="166418"/>
                  </a:lnTo>
                  <a:close/>
                </a:path>
              </a:pathLst>
            </a:custGeom>
            <a:solidFill>
              <a:srgbClr val="9D9993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20650" y="127000"/>
              <a:ext cx="527050" cy="24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209229" y="6376589"/>
            <a:ext cx="4144787" cy="746145"/>
            <a:chOff x="0" y="0"/>
            <a:chExt cx="1154991" cy="20792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54991" cy="207922"/>
            </a:xfrm>
            <a:custGeom>
              <a:avLst/>
              <a:gdLst/>
              <a:ahLst/>
              <a:cxnLst/>
              <a:rect r="r" b="b" t="t" l="l"/>
              <a:pathLst>
                <a:path h="207922" w="1154991">
                  <a:moveTo>
                    <a:pt x="36482" y="0"/>
                  </a:moveTo>
                  <a:lnTo>
                    <a:pt x="1118509" y="0"/>
                  </a:lnTo>
                  <a:cubicBezTo>
                    <a:pt x="1138658" y="0"/>
                    <a:pt x="1154991" y="16333"/>
                    <a:pt x="1154991" y="36482"/>
                  </a:cubicBezTo>
                  <a:lnTo>
                    <a:pt x="1154991" y="171440"/>
                  </a:lnTo>
                  <a:cubicBezTo>
                    <a:pt x="1154991" y="191588"/>
                    <a:pt x="1138658" y="207922"/>
                    <a:pt x="1118509" y="207922"/>
                  </a:cubicBezTo>
                  <a:lnTo>
                    <a:pt x="36482" y="207922"/>
                  </a:lnTo>
                  <a:cubicBezTo>
                    <a:pt x="16333" y="207922"/>
                    <a:pt x="0" y="191588"/>
                    <a:pt x="0" y="171440"/>
                  </a:cubicBezTo>
                  <a:lnTo>
                    <a:pt x="0" y="36482"/>
                  </a:lnTo>
                  <a:cubicBezTo>
                    <a:pt x="0" y="16333"/>
                    <a:pt x="16333" y="0"/>
                    <a:pt x="36482" y="0"/>
                  </a:cubicBezTo>
                  <a:close/>
                </a:path>
              </a:pathLst>
            </a:custGeom>
            <a:solidFill>
              <a:srgbClr val="9D9993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154991" cy="2460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b="true" sz="2000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CORE BANKING SYSTEM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-5400000">
            <a:off x="4480548" y="7126446"/>
            <a:ext cx="599689" cy="493861"/>
            <a:chOff x="0" y="0"/>
            <a:chExt cx="647700" cy="533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47700" cy="533400"/>
            </a:xfrm>
            <a:custGeom>
              <a:avLst/>
              <a:gdLst/>
              <a:ahLst/>
              <a:cxnLst/>
              <a:rect r="r" b="b" t="t" l="l"/>
              <a:pathLst>
                <a:path h="533400" w="647700">
                  <a:moveTo>
                    <a:pt x="239386" y="166418"/>
                  </a:moveTo>
                  <a:lnTo>
                    <a:pt x="647700" y="166418"/>
                  </a:lnTo>
                  <a:lnTo>
                    <a:pt x="647700" y="366942"/>
                  </a:lnTo>
                  <a:lnTo>
                    <a:pt x="239373" y="366942"/>
                  </a:lnTo>
                  <a:lnTo>
                    <a:pt x="302255" y="533400"/>
                  </a:lnTo>
                  <a:lnTo>
                    <a:pt x="0" y="266700"/>
                  </a:lnTo>
                  <a:lnTo>
                    <a:pt x="302255" y="0"/>
                  </a:lnTo>
                  <a:lnTo>
                    <a:pt x="239386" y="166418"/>
                  </a:lnTo>
                  <a:close/>
                </a:path>
              </a:pathLst>
            </a:custGeom>
            <a:solidFill>
              <a:srgbClr val="9D9993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20650" y="127000"/>
              <a:ext cx="527050" cy="24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3209229" y="7673221"/>
            <a:ext cx="4144787" cy="746145"/>
            <a:chOff x="0" y="0"/>
            <a:chExt cx="1154991" cy="20792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54991" cy="207922"/>
            </a:xfrm>
            <a:custGeom>
              <a:avLst/>
              <a:gdLst/>
              <a:ahLst/>
              <a:cxnLst/>
              <a:rect r="r" b="b" t="t" l="l"/>
              <a:pathLst>
                <a:path h="207922" w="1154991">
                  <a:moveTo>
                    <a:pt x="36482" y="0"/>
                  </a:moveTo>
                  <a:lnTo>
                    <a:pt x="1118509" y="0"/>
                  </a:lnTo>
                  <a:cubicBezTo>
                    <a:pt x="1138658" y="0"/>
                    <a:pt x="1154991" y="16333"/>
                    <a:pt x="1154991" y="36482"/>
                  </a:cubicBezTo>
                  <a:lnTo>
                    <a:pt x="1154991" y="171440"/>
                  </a:lnTo>
                  <a:cubicBezTo>
                    <a:pt x="1154991" y="191588"/>
                    <a:pt x="1138658" y="207922"/>
                    <a:pt x="1118509" y="207922"/>
                  </a:cubicBezTo>
                  <a:lnTo>
                    <a:pt x="36482" y="207922"/>
                  </a:lnTo>
                  <a:cubicBezTo>
                    <a:pt x="16333" y="207922"/>
                    <a:pt x="0" y="191588"/>
                    <a:pt x="0" y="171440"/>
                  </a:cubicBezTo>
                  <a:lnTo>
                    <a:pt x="0" y="36482"/>
                  </a:lnTo>
                  <a:cubicBezTo>
                    <a:pt x="0" y="16333"/>
                    <a:pt x="16333" y="0"/>
                    <a:pt x="36482" y="0"/>
                  </a:cubicBezTo>
                  <a:close/>
                </a:path>
              </a:pathLst>
            </a:custGeom>
            <a:solidFill>
              <a:srgbClr val="9D9993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154991" cy="2460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b="true" sz="2000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MOBILE BANKING APP</a:t>
              </a:r>
            </a:p>
          </p:txBody>
        </p:sp>
      </p:grpSp>
      <p:pic>
        <p:nvPicPr>
          <p:cNvPr name="Picture 20" id="20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907327" y="5008192"/>
            <a:ext cx="693286" cy="692867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7930083" y="6320884"/>
            <a:ext cx="668461" cy="660003"/>
          </a:xfrm>
          <a:prstGeom prst="rect">
            <a:avLst/>
          </a:prstGeom>
        </p:spPr>
      </p:pic>
      <p:sp>
        <p:nvSpPr>
          <p:cNvPr name="TextBox 22" id="22"/>
          <p:cNvSpPr txBox="true"/>
          <p:nvPr/>
        </p:nvSpPr>
        <p:spPr>
          <a:xfrm rot="0">
            <a:off x="556422" y="898285"/>
            <a:ext cx="7203393" cy="78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The Problem</a:t>
            </a:r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7928014" y="7615447"/>
            <a:ext cx="693286" cy="692867"/>
          </a:xfrm>
          <a:prstGeom prst="rect">
            <a:avLst/>
          </a:prstGeom>
        </p:spPr>
      </p:pic>
      <p:sp>
        <p:nvSpPr>
          <p:cNvPr name="TextBox 24" id="24"/>
          <p:cNvSpPr txBox="true"/>
          <p:nvPr/>
        </p:nvSpPr>
        <p:spPr>
          <a:xfrm rot="0">
            <a:off x="9009565" y="5165713"/>
            <a:ext cx="1236702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SUCCESS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009565" y="7772968"/>
            <a:ext cx="1236702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SUCCESS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062012" y="6461973"/>
            <a:ext cx="1131808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MISSING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897311" y="170520"/>
            <a:ext cx="4390689" cy="1716360"/>
          </a:xfrm>
          <a:custGeom>
            <a:avLst/>
            <a:gdLst/>
            <a:ahLst/>
            <a:cxnLst/>
            <a:rect r="r" b="b" t="t" l="l"/>
            <a:pathLst>
              <a:path h="1716360" w="4390689">
                <a:moveTo>
                  <a:pt x="0" y="0"/>
                </a:moveTo>
                <a:lnTo>
                  <a:pt x="4390689" y="0"/>
                </a:lnTo>
                <a:lnTo>
                  <a:pt x="4390689" y="1716360"/>
                </a:lnTo>
                <a:lnTo>
                  <a:pt x="0" y="17163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661174" y="4486650"/>
            <a:ext cx="632887" cy="632887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681411" y="5195887"/>
            <a:ext cx="592412" cy="533334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78290" y="5808340"/>
            <a:ext cx="525443" cy="629867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556422" y="898285"/>
            <a:ext cx="7484591" cy="742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522"/>
              </a:lnSpc>
              <a:spcBef>
                <a:spcPct val="0"/>
              </a:spcBef>
            </a:pPr>
            <a:r>
              <a:rPr lang="en-US" sz="5522" spc="-436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WHY THIS MATTERS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2143776"/>
            <a:ext cx="14633648" cy="2062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08"/>
              </a:lnSpc>
            </a:pPr>
            <a:r>
              <a:rPr lang="en-US" sz="3934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When records don’t match, </a:t>
            </a:r>
          </a:p>
          <a:p>
            <a:pPr algn="l">
              <a:lnSpc>
                <a:spcPts val="5508"/>
              </a:lnSpc>
              <a:spcBef>
                <a:spcPct val="0"/>
              </a:spcBef>
            </a:pPr>
            <a:r>
              <a:rPr lang="en-US" sz="393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banks lose time, money, and trust.</a:t>
            </a:r>
          </a:p>
          <a:p>
            <a:pPr algn="l">
              <a:lnSpc>
                <a:spcPts val="5508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2491182" y="4406041"/>
            <a:ext cx="13814382" cy="2110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23"/>
              </a:lnSpc>
            </a:pPr>
            <a:r>
              <a:rPr lang="en-US" b="true" sz="3604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 </a:t>
            </a:r>
            <a:r>
              <a:rPr lang="en-US" b="true" sz="3604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Delayed reconciliation (detected hours or days later)</a:t>
            </a:r>
          </a:p>
          <a:p>
            <a:pPr algn="l">
              <a:lnSpc>
                <a:spcPts val="5623"/>
              </a:lnSpc>
            </a:pPr>
            <a:r>
              <a:rPr lang="en-US" b="true" sz="3604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 High operational cost due to manual audits</a:t>
            </a:r>
          </a:p>
          <a:p>
            <a:pPr algn="l">
              <a:lnSpc>
                <a:spcPts val="5623"/>
              </a:lnSpc>
            </a:pPr>
            <a:r>
              <a:rPr lang="en-US" b="true" sz="3604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Customer disputes and regulatory compliance risk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-585133" y="8805859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-10800000">
            <a:off x="15074791" y="0"/>
            <a:ext cx="1844175" cy="2906294"/>
          </a:xfrm>
          <a:custGeom>
            <a:avLst/>
            <a:gdLst/>
            <a:ahLst/>
            <a:cxnLst/>
            <a:rect r="r" b="b" t="t" l="l"/>
            <a:pathLst>
              <a:path h="2906294" w="1844175">
                <a:moveTo>
                  <a:pt x="0" y="0"/>
                </a:moveTo>
                <a:lnTo>
                  <a:pt x="1844176" y="0"/>
                </a:lnTo>
                <a:lnTo>
                  <a:pt x="1844176" y="2906294"/>
                </a:lnTo>
                <a:lnTo>
                  <a:pt x="0" y="29062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6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60395" y="920645"/>
            <a:ext cx="7279037" cy="78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Problem Validation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71851" y="1965042"/>
            <a:ext cx="13728578" cy="527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1"/>
              </a:lnSpc>
              <a:spcBef>
                <a:spcPct val="0"/>
              </a:spcBef>
            </a:pPr>
            <a:r>
              <a:rPr lang="en-US" sz="320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We validated this problem before building FraudLens.</a:t>
            </a:r>
          </a:p>
        </p:txBody>
      </p:sp>
      <p:sp>
        <p:nvSpPr>
          <p:cNvPr name="AutoShape 7" id="7"/>
          <p:cNvSpPr/>
          <p:nvPr/>
        </p:nvSpPr>
        <p:spPr>
          <a:xfrm flipV="true">
            <a:off x="8851433" y="3178492"/>
            <a:ext cx="10031" cy="563213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1948034" y="3921442"/>
            <a:ext cx="5488106" cy="538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25"/>
              </a:lnSpc>
              <a:spcBef>
                <a:spcPct val="0"/>
              </a:spcBef>
            </a:pPr>
            <a:r>
              <a:rPr lang="en-US" sz="3160" u="sng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WHO WE VALIDATED WITH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29929" y="5076825"/>
            <a:ext cx="6784420" cy="1780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5"/>
              </a:lnSpc>
              <a:spcBef>
                <a:spcPct val="0"/>
              </a:spcBef>
            </a:pPr>
            <a:r>
              <a:rPr lang="en-US" sz="340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• Fintech developers</a:t>
            </a:r>
          </a:p>
          <a:p>
            <a:pPr algn="l">
              <a:lnSpc>
                <a:spcPts val="4765"/>
              </a:lnSpc>
              <a:spcBef>
                <a:spcPct val="0"/>
              </a:spcBef>
            </a:pPr>
            <a:r>
              <a:rPr lang="en-US" sz="340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• Banking system simulations</a:t>
            </a:r>
          </a:p>
          <a:p>
            <a:pPr algn="l">
              <a:lnSpc>
                <a:spcPts val="4765"/>
              </a:lnSpc>
              <a:spcBef>
                <a:spcPct val="0"/>
              </a:spcBef>
            </a:pPr>
            <a:r>
              <a:rPr lang="en-US" sz="340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• Academic &amp; industry mentors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508773" y="3921442"/>
            <a:ext cx="5488106" cy="538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25"/>
              </a:lnSpc>
              <a:spcBef>
                <a:spcPct val="0"/>
              </a:spcBef>
            </a:pPr>
            <a:r>
              <a:rPr lang="en-US" sz="3160" u="sng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WHAT WE LEARNED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749412" y="5076873"/>
            <a:ext cx="7006828" cy="1780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67"/>
              </a:lnSpc>
              <a:spcBef>
                <a:spcPct val="0"/>
              </a:spcBef>
            </a:pPr>
            <a:r>
              <a:rPr lang="en-US" sz="340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• Reconciliation is still reactive</a:t>
            </a:r>
          </a:p>
          <a:p>
            <a:pPr algn="just">
              <a:lnSpc>
                <a:spcPts val="4767"/>
              </a:lnSpc>
              <a:spcBef>
                <a:spcPct val="0"/>
              </a:spcBef>
            </a:pPr>
            <a:r>
              <a:rPr lang="en-US" sz="340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• Issues are detected too late</a:t>
            </a:r>
          </a:p>
          <a:p>
            <a:pPr algn="just">
              <a:lnSpc>
                <a:spcPts val="4767"/>
              </a:lnSpc>
              <a:spcBef>
                <a:spcPct val="0"/>
              </a:spcBef>
            </a:pPr>
            <a:r>
              <a:rPr lang="en-US" sz="340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• Manual resolution is expensive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-398462" y="681705"/>
            <a:ext cx="10473316" cy="789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Our Solution - Sentinal Core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60395" y="1685943"/>
            <a:ext cx="12077838" cy="495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Sentinal Core is a real-time transaction reconciliation engine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28700" y="2952768"/>
            <a:ext cx="4287995" cy="746145"/>
            <a:chOff x="0" y="0"/>
            <a:chExt cx="1194898" cy="2079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94898" cy="207922"/>
            </a:xfrm>
            <a:custGeom>
              <a:avLst/>
              <a:gdLst/>
              <a:ahLst/>
              <a:cxnLst/>
              <a:rect r="r" b="b" t="t" l="l"/>
              <a:pathLst>
                <a:path h="207922" w="1194898">
                  <a:moveTo>
                    <a:pt x="35263" y="0"/>
                  </a:moveTo>
                  <a:lnTo>
                    <a:pt x="1159634" y="0"/>
                  </a:lnTo>
                  <a:cubicBezTo>
                    <a:pt x="1179110" y="0"/>
                    <a:pt x="1194898" y="15788"/>
                    <a:pt x="1194898" y="35263"/>
                  </a:cubicBezTo>
                  <a:lnTo>
                    <a:pt x="1194898" y="172658"/>
                  </a:lnTo>
                  <a:cubicBezTo>
                    <a:pt x="1194898" y="192134"/>
                    <a:pt x="1179110" y="207922"/>
                    <a:pt x="1159634" y="207922"/>
                  </a:cubicBezTo>
                  <a:lnTo>
                    <a:pt x="35263" y="207922"/>
                  </a:lnTo>
                  <a:cubicBezTo>
                    <a:pt x="15788" y="207922"/>
                    <a:pt x="0" y="192134"/>
                    <a:pt x="0" y="172658"/>
                  </a:cubicBezTo>
                  <a:lnTo>
                    <a:pt x="0" y="35263"/>
                  </a:lnTo>
                  <a:cubicBezTo>
                    <a:pt x="0" y="15788"/>
                    <a:pt x="15788" y="0"/>
                    <a:pt x="35263" y="0"/>
                  </a:cubicBezTo>
                  <a:close/>
                </a:path>
              </a:pathLst>
            </a:custGeom>
            <a:solidFill>
              <a:srgbClr val="9D999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194898" cy="255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b="true" sz="2499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Live 3-way matching 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-10800000">
            <a:off x="5608680" y="3078910"/>
            <a:ext cx="599689" cy="493861"/>
            <a:chOff x="0" y="0"/>
            <a:chExt cx="647700" cy="533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47700" cy="533400"/>
            </a:xfrm>
            <a:custGeom>
              <a:avLst/>
              <a:gdLst/>
              <a:ahLst/>
              <a:cxnLst/>
              <a:rect r="r" b="b" t="t" l="l"/>
              <a:pathLst>
                <a:path h="533400" w="647700">
                  <a:moveTo>
                    <a:pt x="239386" y="166418"/>
                  </a:moveTo>
                  <a:lnTo>
                    <a:pt x="647700" y="166418"/>
                  </a:lnTo>
                  <a:lnTo>
                    <a:pt x="647700" y="366942"/>
                  </a:lnTo>
                  <a:lnTo>
                    <a:pt x="239373" y="366942"/>
                  </a:lnTo>
                  <a:lnTo>
                    <a:pt x="302255" y="533400"/>
                  </a:lnTo>
                  <a:lnTo>
                    <a:pt x="0" y="266700"/>
                  </a:lnTo>
                  <a:lnTo>
                    <a:pt x="302255" y="0"/>
                  </a:lnTo>
                  <a:lnTo>
                    <a:pt x="239386" y="166418"/>
                  </a:lnTo>
                  <a:close/>
                </a:path>
              </a:pathLst>
            </a:custGeom>
            <a:solidFill>
              <a:srgbClr val="9D9993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20650" y="127000"/>
              <a:ext cx="527050" cy="24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5908525" y="3055882"/>
            <a:ext cx="11784356" cy="976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Across Payment Gateway, Core Banking, and Mobile Banking</a:t>
            </a:r>
          </a:p>
          <a:p>
            <a:pPr algn="r">
              <a:lnSpc>
                <a:spcPts val="3919"/>
              </a:lnSpc>
              <a:spcBef>
                <a:spcPct val="0"/>
              </a:spcBef>
            </a:pPr>
          </a:p>
        </p:txBody>
      </p:sp>
      <p:grpSp>
        <p:nvGrpSpPr>
          <p:cNvPr name="Group 12" id="12"/>
          <p:cNvGrpSpPr/>
          <p:nvPr/>
        </p:nvGrpSpPr>
        <p:grpSpPr>
          <a:xfrm rot="0">
            <a:off x="1028700" y="4203099"/>
            <a:ext cx="4287995" cy="1031875"/>
            <a:chOff x="0" y="0"/>
            <a:chExt cx="1194898" cy="28754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94898" cy="287543"/>
            </a:xfrm>
            <a:custGeom>
              <a:avLst/>
              <a:gdLst/>
              <a:ahLst/>
              <a:cxnLst/>
              <a:rect r="r" b="b" t="t" l="l"/>
              <a:pathLst>
                <a:path h="287543" w="1194898">
                  <a:moveTo>
                    <a:pt x="35263" y="0"/>
                  </a:moveTo>
                  <a:lnTo>
                    <a:pt x="1159634" y="0"/>
                  </a:lnTo>
                  <a:cubicBezTo>
                    <a:pt x="1179110" y="0"/>
                    <a:pt x="1194898" y="15788"/>
                    <a:pt x="1194898" y="35263"/>
                  </a:cubicBezTo>
                  <a:lnTo>
                    <a:pt x="1194898" y="252280"/>
                  </a:lnTo>
                  <a:cubicBezTo>
                    <a:pt x="1194898" y="271755"/>
                    <a:pt x="1179110" y="287543"/>
                    <a:pt x="1159634" y="287543"/>
                  </a:cubicBezTo>
                  <a:lnTo>
                    <a:pt x="35263" y="287543"/>
                  </a:lnTo>
                  <a:cubicBezTo>
                    <a:pt x="15788" y="287543"/>
                    <a:pt x="0" y="271755"/>
                    <a:pt x="0" y="252280"/>
                  </a:cubicBezTo>
                  <a:lnTo>
                    <a:pt x="0" y="35263"/>
                  </a:lnTo>
                  <a:cubicBezTo>
                    <a:pt x="0" y="15788"/>
                    <a:pt x="15788" y="0"/>
                    <a:pt x="35263" y="0"/>
                  </a:cubicBezTo>
                  <a:close/>
                </a:path>
              </a:pathLst>
            </a:custGeom>
            <a:solidFill>
              <a:srgbClr val="9D9993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194898" cy="3351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b="true" sz="2499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Instant mismatch detection  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-10800000">
            <a:off x="5608680" y="4472105"/>
            <a:ext cx="599689" cy="493861"/>
            <a:chOff x="0" y="0"/>
            <a:chExt cx="647700" cy="533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47700" cy="533400"/>
            </a:xfrm>
            <a:custGeom>
              <a:avLst/>
              <a:gdLst/>
              <a:ahLst/>
              <a:cxnLst/>
              <a:rect r="r" b="b" t="t" l="l"/>
              <a:pathLst>
                <a:path h="533400" w="647700">
                  <a:moveTo>
                    <a:pt x="239386" y="166418"/>
                  </a:moveTo>
                  <a:lnTo>
                    <a:pt x="647700" y="166418"/>
                  </a:lnTo>
                  <a:lnTo>
                    <a:pt x="647700" y="366942"/>
                  </a:lnTo>
                  <a:lnTo>
                    <a:pt x="239373" y="366942"/>
                  </a:lnTo>
                  <a:lnTo>
                    <a:pt x="302255" y="533400"/>
                  </a:lnTo>
                  <a:lnTo>
                    <a:pt x="0" y="266700"/>
                  </a:lnTo>
                  <a:lnTo>
                    <a:pt x="302255" y="0"/>
                  </a:lnTo>
                  <a:lnTo>
                    <a:pt x="239386" y="166418"/>
                  </a:lnTo>
                  <a:close/>
                </a:path>
              </a:pathLst>
            </a:custGeom>
            <a:solidFill>
              <a:srgbClr val="9D9993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120650" y="127000"/>
              <a:ext cx="527050" cy="24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4847890" y="4449796"/>
            <a:ext cx="11784356" cy="481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Detects missing, delayed, or inconsistent transactions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028700" y="5949348"/>
            <a:ext cx="4287995" cy="1031875"/>
            <a:chOff x="0" y="0"/>
            <a:chExt cx="1194898" cy="28754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94898" cy="287543"/>
            </a:xfrm>
            <a:custGeom>
              <a:avLst/>
              <a:gdLst/>
              <a:ahLst/>
              <a:cxnLst/>
              <a:rect r="r" b="b" t="t" l="l"/>
              <a:pathLst>
                <a:path h="287543" w="1194898">
                  <a:moveTo>
                    <a:pt x="35263" y="0"/>
                  </a:moveTo>
                  <a:lnTo>
                    <a:pt x="1159634" y="0"/>
                  </a:lnTo>
                  <a:cubicBezTo>
                    <a:pt x="1179110" y="0"/>
                    <a:pt x="1194898" y="15788"/>
                    <a:pt x="1194898" y="35263"/>
                  </a:cubicBezTo>
                  <a:lnTo>
                    <a:pt x="1194898" y="252280"/>
                  </a:lnTo>
                  <a:cubicBezTo>
                    <a:pt x="1194898" y="271755"/>
                    <a:pt x="1179110" y="287543"/>
                    <a:pt x="1159634" y="287543"/>
                  </a:cubicBezTo>
                  <a:lnTo>
                    <a:pt x="35263" y="287543"/>
                  </a:lnTo>
                  <a:cubicBezTo>
                    <a:pt x="15788" y="287543"/>
                    <a:pt x="0" y="271755"/>
                    <a:pt x="0" y="252280"/>
                  </a:cubicBezTo>
                  <a:lnTo>
                    <a:pt x="0" y="35263"/>
                  </a:lnTo>
                  <a:cubicBezTo>
                    <a:pt x="0" y="15788"/>
                    <a:pt x="15788" y="0"/>
                    <a:pt x="35263" y="0"/>
                  </a:cubicBezTo>
                  <a:close/>
                </a:path>
              </a:pathLst>
            </a:custGeom>
            <a:solidFill>
              <a:srgbClr val="9D9993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1194898" cy="3351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b="true" sz="2499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Automated alerts &amp; resolution   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-10800000">
            <a:off x="5608680" y="6218355"/>
            <a:ext cx="599689" cy="493861"/>
            <a:chOff x="0" y="0"/>
            <a:chExt cx="647700" cy="533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47700" cy="533400"/>
            </a:xfrm>
            <a:custGeom>
              <a:avLst/>
              <a:gdLst/>
              <a:ahLst/>
              <a:cxnLst/>
              <a:rect r="r" b="b" t="t" l="l"/>
              <a:pathLst>
                <a:path h="533400" w="647700">
                  <a:moveTo>
                    <a:pt x="239386" y="166418"/>
                  </a:moveTo>
                  <a:lnTo>
                    <a:pt x="647700" y="166418"/>
                  </a:lnTo>
                  <a:lnTo>
                    <a:pt x="647700" y="366942"/>
                  </a:lnTo>
                  <a:lnTo>
                    <a:pt x="239373" y="366942"/>
                  </a:lnTo>
                  <a:lnTo>
                    <a:pt x="302255" y="533400"/>
                  </a:lnTo>
                  <a:lnTo>
                    <a:pt x="0" y="266700"/>
                  </a:lnTo>
                  <a:lnTo>
                    <a:pt x="302255" y="0"/>
                  </a:lnTo>
                  <a:lnTo>
                    <a:pt x="239386" y="166418"/>
                  </a:lnTo>
                  <a:close/>
                </a:path>
              </a:pathLst>
            </a:custGeom>
            <a:solidFill>
              <a:srgbClr val="9D9993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120650" y="127000"/>
              <a:ext cx="527050" cy="24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3869300" y="6230886"/>
            <a:ext cx="11784356" cy="481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Risk scoring with auto-mitigation where possible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33541" y="440320"/>
            <a:ext cx="17220918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60"/>
              </a:lnSpc>
            </a:pPr>
            <a:r>
              <a:rPr lang="en-US" sz="530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HOW SENTINAL CORE WORKS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6014499" y="2493144"/>
            <a:ext cx="5190523" cy="903192"/>
            <a:chOff x="0" y="0"/>
            <a:chExt cx="1194898" cy="20792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94898" cy="207922"/>
            </a:xfrm>
            <a:custGeom>
              <a:avLst/>
              <a:gdLst/>
              <a:ahLst/>
              <a:cxnLst/>
              <a:rect r="r" b="b" t="t" l="l"/>
              <a:pathLst>
                <a:path h="207922" w="1194898">
                  <a:moveTo>
                    <a:pt x="29132" y="0"/>
                  </a:moveTo>
                  <a:lnTo>
                    <a:pt x="1165766" y="0"/>
                  </a:lnTo>
                  <a:cubicBezTo>
                    <a:pt x="1181855" y="0"/>
                    <a:pt x="1194898" y="13043"/>
                    <a:pt x="1194898" y="29132"/>
                  </a:cubicBezTo>
                  <a:lnTo>
                    <a:pt x="1194898" y="178790"/>
                  </a:lnTo>
                  <a:cubicBezTo>
                    <a:pt x="1194898" y="194879"/>
                    <a:pt x="1181855" y="207922"/>
                    <a:pt x="1165766" y="207922"/>
                  </a:cubicBezTo>
                  <a:lnTo>
                    <a:pt x="29132" y="207922"/>
                  </a:lnTo>
                  <a:cubicBezTo>
                    <a:pt x="13043" y="207922"/>
                    <a:pt x="0" y="194879"/>
                    <a:pt x="0" y="178790"/>
                  </a:cubicBezTo>
                  <a:lnTo>
                    <a:pt x="0" y="29132"/>
                  </a:lnTo>
                  <a:cubicBezTo>
                    <a:pt x="0" y="13043"/>
                    <a:pt x="13043" y="0"/>
                    <a:pt x="29132" y="0"/>
                  </a:cubicBezTo>
                  <a:close/>
                </a:path>
              </a:pathLst>
            </a:custGeom>
            <a:solidFill>
              <a:srgbClr val="9D9993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194898" cy="255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99"/>
                </a:lnSpc>
              </a:pPr>
              <a:r>
                <a:rPr lang="en-US" b="true" sz="2999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TRANSCTION EVENTS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-5400000">
            <a:off x="8309916" y="3449250"/>
            <a:ext cx="599689" cy="493861"/>
            <a:chOff x="0" y="0"/>
            <a:chExt cx="647700" cy="533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47700" cy="533400"/>
            </a:xfrm>
            <a:custGeom>
              <a:avLst/>
              <a:gdLst/>
              <a:ahLst/>
              <a:cxnLst/>
              <a:rect r="r" b="b" t="t" l="l"/>
              <a:pathLst>
                <a:path h="533400" w="647700">
                  <a:moveTo>
                    <a:pt x="239386" y="166418"/>
                  </a:moveTo>
                  <a:lnTo>
                    <a:pt x="647700" y="166418"/>
                  </a:lnTo>
                  <a:lnTo>
                    <a:pt x="647700" y="366942"/>
                  </a:lnTo>
                  <a:lnTo>
                    <a:pt x="239373" y="366942"/>
                  </a:lnTo>
                  <a:lnTo>
                    <a:pt x="302255" y="533400"/>
                  </a:lnTo>
                  <a:lnTo>
                    <a:pt x="0" y="266700"/>
                  </a:lnTo>
                  <a:lnTo>
                    <a:pt x="302255" y="0"/>
                  </a:lnTo>
                  <a:lnTo>
                    <a:pt x="239386" y="166418"/>
                  </a:lnTo>
                  <a:close/>
                </a:path>
              </a:pathLst>
            </a:custGeom>
            <a:solidFill>
              <a:srgbClr val="9D9993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120650" y="127000"/>
              <a:ext cx="527050" cy="24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346194" y="3996025"/>
            <a:ext cx="6527133" cy="1219199"/>
            <a:chOff x="0" y="0"/>
            <a:chExt cx="1502596" cy="28066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02596" cy="280669"/>
            </a:xfrm>
            <a:custGeom>
              <a:avLst/>
              <a:gdLst/>
              <a:ahLst/>
              <a:cxnLst/>
              <a:rect r="r" b="b" t="t" l="l"/>
              <a:pathLst>
                <a:path h="280669" w="1502596">
                  <a:moveTo>
                    <a:pt x="23166" y="0"/>
                  </a:moveTo>
                  <a:lnTo>
                    <a:pt x="1479429" y="0"/>
                  </a:lnTo>
                  <a:cubicBezTo>
                    <a:pt x="1485573" y="0"/>
                    <a:pt x="1491466" y="2441"/>
                    <a:pt x="1495810" y="6785"/>
                  </a:cubicBezTo>
                  <a:cubicBezTo>
                    <a:pt x="1500155" y="11130"/>
                    <a:pt x="1502596" y="17022"/>
                    <a:pt x="1502596" y="23166"/>
                  </a:cubicBezTo>
                  <a:lnTo>
                    <a:pt x="1502596" y="257503"/>
                  </a:lnTo>
                  <a:cubicBezTo>
                    <a:pt x="1502596" y="263647"/>
                    <a:pt x="1500155" y="269539"/>
                    <a:pt x="1495810" y="273884"/>
                  </a:cubicBezTo>
                  <a:cubicBezTo>
                    <a:pt x="1491466" y="278228"/>
                    <a:pt x="1485573" y="280669"/>
                    <a:pt x="1479429" y="280669"/>
                  </a:cubicBezTo>
                  <a:lnTo>
                    <a:pt x="23166" y="280669"/>
                  </a:lnTo>
                  <a:cubicBezTo>
                    <a:pt x="17022" y="280669"/>
                    <a:pt x="11130" y="278228"/>
                    <a:pt x="6785" y="273884"/>
                  </a:cubicBezTo>
                  <a:cubicBezTo>
                    <a:pt x="2441" y="269539"/>
                    <a:pt x="0" y="263647"/>
                    <a:pt x="0" y="257503"/>
                  </a:cubicBezTo>
                  <a:lnTo>
                    <a:pt x="0" y="23166"/>
                  </a:lnTo>
                  <a:cubicBezTo>
                    <a:pt x="0" y="17022"/>
                    <a:pt x="2441" y="11130"/>
                    <a:pt x="6785" y="6785"/>
                  </a:cubicBezTo>
                  <a:cubicBezTo>
                    <a:pt x="11130" y="2441"/>
                    <a:pt x="17022" y="0"/>
                    <a:pt x="23166" y="0"/>
                  </a:cubicBezTo>
                  <a:close/>
                </a:path>
              </a:pathLst>
            </a:custGeom>
            <a:solidFill>
              <a:srgbClr val="9D9993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502596" cy="3282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99"/>
                </a:lnSpc>
              </a:pPr>
              <a:r>
                <a:rPr lang="en-US" b="true" sz="2999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REAL-TIME STREAM PROCESSING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-5400000">
            <a:off x="8309916" y="5323532"/>
            <a:ext cx="599689" cy="493861"/>
            <a:chOff x="0" y="0"/>
            <a:chExt cx="647700" cy="533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47700" cy="533400"/>
            </a:xfrm>
            <a:custGeom>
              <a:avLst/>
              <a:gdLst/>
              <a:ahLst/>
              <a:cxnLst/>
              <a:rect r="r" b="b" t="t" l="l"/>
              <a:pathLst>
                <a:path h="533400" w="647700">
                  <a:moveTo>
                    <a:pt x="239386" y="166418"/>
                  </a:moveTo>
                  <a:lnTo>
                    <a:pt x="647700" y="166418"/>
                  </a:lnTo>
                  <a:lnTo>
                    <a:pt x="647700" y="366942"/>
                  </a:lnTo>
                  <a:lnTo>
                    <a:pt x="239373" y="366942"/>
                  </a:lnTo>
                  <a:lnTo>
                    <a:pt x="302255" y="533400"/>
                  </a:lnTo>
                  <a:lnTo>
                    <a:pt x="0" y="266700"/>
                  </a:lnTo>
                  <a:lnTo>
                    <a:pt x="302255" y="0"/>
                  </a:lnTo>
                  <a:lnTo>
                    <a:pt x="239386" y="166418"/>
                  </a:lnTo>
                  <a:close/>
                </a:path>
              </a:pathLst>
            </a:custGeom>
            <a:solidFill>
              <a:srgbClr val="9D9993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120650" y="127000"/>
              <a:ext cx="527050" cy="24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5668188" y="5927457"/>
            <a:ext cx="5883146" cy="1381889"/>
            <a:chOff x="0" y="0"/>
            <a:chExt cx="1194898" cy="28066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94898" cy="280669"/>
            </a:xfrm>
            <a:custGeom>
              <a:avLst/>
              <a:gdLst/>
              <a:ahLst/>
              <a:cxnLst/>
              <a:rect r="r" b="b" t="t" l="l"/>
              <a:pathLst>
                <a:path h="280669" w="1194898">
                  <a:moveTo>
                    <a:pt x="25702" y="0"/>
                  </a:moveTo>
                  <a:lnTo>
                    <a:pt x="1169196" y="0"/>
                  </a:lnTo>
                  <a:cubicBezTo>
                    <a:pt x="1176012" y="0"/>
                    <a:pt x="1182550" y="2708"/>
                    <a:pt x="1187370" y="7528"/>
                  </a:cubicBezTo>
                  <a:cubicBezTo>
                    <a:pt x="1192190" y="12348"/>
                    <a:pt x="1194898" y="18886"/>
                    <a:pt x="1194898" y="25702"/>
                  </a:cubicBezTo>
                  <a:lnTo>
                    <a:pt x="1194898" y="254967"/>
                  </a:lnTo>
                  <a:cubicBezTo>
                    <a:pt x="1194898" y="261783"/>
                    <a:pt x="1192190" y="268321"/>
                    <a:pt x="1187370" y="273141"/>
                  </a:cubicBezTo>
                  <a:cubicBezTo>
                    <a:pt x="1182550" y="277961"/>
                    <a:pt x="1176012" y="280669"/>
                    <a:pt x="1169196" y="280669"/>
                  </a:cubicBezTo>
                  <a:lnTo>
                    <a:pt x="25702" y="280669"/>
                  </a:lnTo>
                  <a:cubicBezTo>
                    <a:pt x="18886" y="280669"/>
                    <a:pt x="12348" y="277961"/>
                    <a:pt x="7528" y="273141"/>
                  </a:cubicBezTo>
                  <a:cubicBezTo>
                    <a:pt x="2708" y="268321"/>
                    <a:pt x="0" y="261783"/>
                    <a:pt x="0" y="254967"/>
                  </a:cubicBezTo>
                  <a:lnTo>
                    <a:pt x="0" y="25702"/>
                  </a:lnTo>
                  <a:cubicBezTo>
                    <a:pt x="0" y="18886"/>
                    <a:pt x="2708" y="12348"/>
                    <a:pt x="7528" y="7528"/>
                  </a:cubicBezTo>
                  <a:cubicBezTo>
                    <a:pt x="12348" y="2708"/>
                    <a:pt x="18886" y="0"/>
                    <a:pt x="25702" y="0"/>
                  </a:cubicBezTo>
                  <a:close/>
                </a:path>
              </a:pathLst>
            </a:custGeom>
            <a:solidFill>
              <a:srgbClr val="9D9993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194898" cy="3282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99"/>
                </a:lnSpc>
              </a:pPr>
              <a:r>
                <a:rPr lang="en-US" b="true" sz="2999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3-WAY RECONCILATION ENGINE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5668188" y="8023335"/>
            <a:ext cx="5883146" cy="1381889"/>
            <a:chOff x="0" y="0"/>
            <a:chExt cx="1194898" cy="28066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94898" cy="280669"/>
            </a:xfrm>
            <a:custGeom>
              <a:avLst/>
              <a:gdLst/>
              <a:ahLst/>
              <a:cxnLst/>
              <a:rect r="r" b="b" t="t" l="l"/>
              <a:pathLst>
                <a:path h="280669" w="1194898">
                  <a:moveTo>
                    <a:pt x="25702" y="0"/>
                  </a:moveTo>
                  <a:lnTo>
                    <a:pt x="1169196" y="0"/>
                  </a:lnTo>
                  <a:cubicBezTo>
                    <a:pt x="1176012" y="0"/>
                    <a:pt x="1182550" y="2708"/>
                    <a:pt x="1187370" y="7528"/>
                  </a:cubicBezTo>
                  <a:cubicBezTo>
                    <a:pt x="1192190" y="12348"/>
                    <a:pt x="1194898" y="18886"/>
                    <a:pt x="1194898" y="25702"/>
                  </a:cubicBezTo>
                  <a:lnTo>
                    <a:pt x="1194898" y="254967"/>
                  </a:lnTo>
                  <a:cubicBezTo>
                    <a:pt x="1194898" y="261783"/>
                    <a:pt x="1192190" y="268321"/>
                    <a:pt x="1187370" y="273141"/>
                  </a:cubicBezTo>
                  <a:cubicBezTo>
                    <a:pt x="1182550" y="277961"/>
                    <a:pt x="1176012" y="280669"/>
                    <a:pt x="1169196" y="280669"/>
                  </a:cubicBezTo>
                  <a:lnTo>
                    <a:pt x="25702" y="280669"/>
                  </a:lnTo>
                  <a:cubicBezTo>
                    <a:pt x="18886" y="280669"/>
                    <a:pt x="12348" y="277961"/>
                    <a:pt x="7528" y="273141"/>
                  </a:cubicBezTo>
                  <a:cubicBezTo>
                    <a:pt x="2708" y="268321"/>
                    <a:pt x="0" y="261783"/>
                    <a:pt x="0" y="254967"/>
                  </a:cubicBezTo>
                  <a:lnTo>
                    <a:pt x="0" y="25702"/>
                  </a:lnTo>
                  <a:cubicBezTo>
                    <a:pt x="0" y="18886"/>
                    <a:pt x="2708" y="12348"/>
                    <a:pt x="7528" y="7528"/>
                  </a:cubicBezTo>
                  <a:cubicBezTo>
                    <a:pt x="12348" y="2708"/>
                    <a:pt x="18886" y="0"/>
                    <a:pt x="25702" y="0"/>
                  </a:cubicBezTo>
                  <a:close/>
                </a:path>
              </a:pathLst>
            </a:custGeom>
            <a:solidFill>
              <a:srgbClr val="9D9993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1194898" cy="3282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99"/>
                </a:lnSpc>
              </a:pPr>
              <a:r>
                <a:rPr lang="en-US" b="true" sz="2999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ALERTS AND LIVE DASHBOARD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-5400000">
            <a:off x="8309916" y="7419410"/>
            <a:ext cx="599689" cy="493861"/>
            <a:chOff x="0" y="0"/>
            <a:chExt cx="647700" cy="533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47700" cy="533400"/>
            </a:xfrm>
            <a:custGeom>
              <a:avLst/>
              <a:gdLst/>
              <a:ahLst/>
              <a:cxnLst/>
              <a:rect r="r" b="b" t="t" l="l"/>
              <a:pathLst>
                <a:path h="533400" w="647700">
                  <a:moveTo>
                    <a:pt x="239386" y="166418"/>
                  </a:moveTo>
                  <a:lnTo>
                    <a:pt x="647700" y="166418"/>
                  </a:lnTo>
                  <a:lnTo>
                    <a:pt x="647700" y="366942"/>
                  </a:lnTo>
                  <a:lnTo>
                    <a:pt x="239373" y="366942"/>
                  </a:lnTo>
                  <a:lnTo>
                    <a:pt x="302255" y="533400"/>
                  </a:lnTo>
                  <a:lnTo>
                    <a:pt x="0" y="266700"/>
                  </a:lnTo>
                  <a:lnTo>
                    <a:pt x="302255" y="0"/>
                  </a:lnTo>
                  <a:lnTo>
                    <a:pt x="239386" y="166418"/>
                  </a:lnTo>
                  <a:close/>
                </a:path>
              </a:pathLst>
            </a:custGeom>
            <a:solidFill>
              <a:srgbClr val="9D9993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120650" y="127000"/>
              <a:ext cx="527050" cy="24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287309" y="1393541"/>
            <a:ext cx="8856691" cy="580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Event-driven | Real-time | Automated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13897311" y="170520"/>
            <a:ext cx="4390689" cy="1716360"/>
          </a:xfrm>
          <a:custGeom>
            <a:avLst/>
            <a:gdLst/>
            <a:ahLst/>
            <a:cxnLst/>
            <a:rect r="r" b="b" t="t" l="l"/>
            <a:pathLst>
              <a:path h="1716360" w="4390689">
                <a:moveTo>
                  <a:pt x="0" y="0"/>
                </a:moveTo>
                <a:lnTo>
                  <a:pt x="4390689" y="0"/>
                </a:lnTo>
                <a:lnTo>
                  <a:pt x="4390689" y="1716360"/>
                </a:lnTo>
                <a:lnTo>
                  <a:pt x="0" y="17163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41054" y="2281238"/>
            <a:ext cx="4287995" cy="1908175"/>
            <a:chOff x="0" y="0"/>
            <a:chExt cx="1194898" cy="53173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94898" cy="531734"/>
            </a:xfrm>
            <a:custGeom>
              <a:avLst/>
              <a:gdLst/>
              <a:ahLst/>
              <a:cxnLst/>
              <a:rect r="r" b="b" t="t" l="l"/>
              <a:pathLst>
                <a:path h="531734" w="1194898">
                  <a:moveTo>
                    <a:pt x="35263" y="0"/>
                  </a:moveTo>
                  <a:lnTo>
                    <a:pt x="1159634" y="0"/>
                  </a:lnTo>
                  <a:cubicBezTo>
                    <a:pt x="1179110" y="0"/>
                    <a:pt x="1194898" y="15788"/>
                    <a:pt x="1194898" y="35263"/>
                  </a:cubicBezTo>
                  <a:lnTo>
                    <a:pt x="1194898" y="496471"/>
                  </a:lnTo>
                  <a:cubicBezTo>
                    <a:pt x="1194898" y="515946"/>
                    <a:pt x="1179110" y="531734"/>
                    <a:pt x="1159634" y="531734"/>
                  </a:cubicBezTo>
                  <a:lnTo>
                    <a:pt x="35263" y="531734"/>
                  </a:lnTo>
                  <a:cubicBezTo>
                    <a:pt x="15788" y="531734"/>
                    <a:pt x="0" y="515946"/>
                    <a:pt x="0" y="496471"/>
                  </a:cubicBezTo>
                  <a:lnTo>
                    <a:pt x="0" y="35263"/>
                  </a:lnTo>
                  <a:cubicBezTo>
                    <a:pt x="0" y="15788"/>
                    <a:pt x="15788" y="0"/>
                    <a:pt x="35263" y="0"/>
                  </a:cubicBezTo>
                  <a:close/>
                </a:path>
              </a:pathLst>
            </a:custGeom>
            <a:solidFill>
              <a:srgbClr val="9D9993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194898" cy="5793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sz="2499" b="true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Transaction Sources</a:t>
              </a:r>
            </a:p>
            <a:p>
              <a:pPr algn="ctr">
                <a:lnSpc>
                  <a:spcPts val="3499"/>
                </a:lnSpc>
              </a:pPr>
              <a:r>
                <a:rPr lang="en-US" sz="2499" b="true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(Payment Gateway | Core Banking | Mobile App)</a:t>
              </a:r>
            </a:p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381433" y="4189413"/>
            <a:ext cx="4287995" cy="1908175"/>
            <a:chOff x="0" y="0"/>
            <a:chExt cx="1194898" cy="53173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94898" cy="531734"/>
            </a:xfrm>
            <a:custGeom>
              <a:avLst/>
              <a:gdLst/>
              <a:ahLst/>
              <a:cxnLst/>
              <a:rect r="r" b="b" t="t" l="l"/>
              <a:pathLst>
                <a:path h="531734" w="1194898">
                  <a:moveTo>
                    <a:pt x="35263" y="0"/>
                  </a:moveTo>
                  <a:lnTo>
                    <a:pt x="1159634" y="0"/>
                  </a:lnTo>
                  <a:cubicBezTo>
                    <a:pt x="1179110" y="0"/>
                    <a:pt x="1194898" y="15788"/>
                    <a:pt x="1194898" y="35263"/>
                  </a:cubicBezTo>
                  <a:lnTo>
                    <a:pt x="1194898" y="496471"/>
                  </a:lnTo>
                  <a:cubicBezTo>
                    <a:pt x="1194898" y="515946"/>
                    <a:pt x="1179110" y="531734"/>
                    <a:pt x="1159634" y="531734"/>
                  </a:cubicBezTo>
                  <a:lnTo>
                    <a:pt x="35263" y="531734"/>
                  </a:lnTo>
                  <a:cubicBezTo>
                    <a:pt x="15788" y="531734"/>
                    <a:pt x="0" y="515946"/>
                    <a:pt x="0" y="496471"/>
                  </a:cubicBezTo>
                  <a:lnTo>
                    <a:pt x="0" y="35263"/>
                  </a:lnTo>
                  <a:cubicBezTo>
                    <a:pt x="0" y="15788"/>
                    <a:pt x="15788" y="0"/>
                    <a:pt x="35263" y="0"/>
                  </a:cubicBezTo>
                  <a:close/>
                </a:path>
              </a:pathLst>
            </a:custGeom>
            <a:solidFill>
              <a:srgbClr val="9D9993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194898" cy="5793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sz="2499" b="true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Event Streaming Layer(Kafka / Azure Event Hubs)</a:t>
              </a:r>
            </a:p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669429" y="5954379"/>
            <a:ext cx="4287995" cy="1908175"/>
            <a:chOff x="0" y="0"/>
            <a:chExt cx="1194898" cy="53173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94898" cy="531734"/>
            </a:xfrm>
            <a:custGeom>
              <a:avLst/>
              <a:gdLst/>
              <a:ahLst/>
              <a:cxnLst/>
              <a:rect r="r" b="b" t="t" l="l"/>
              <a:pathLst>
                <a:path h="531734" w="1194898">
                  <a:moveTo>
                    <a:pt x="35263" y="0"/>
                  </a:moveTo>
                  <a:lnTo>
                    <a:pt x="1159634" y="0"/>
                  </a:lnTo>
                  <a:cubicBezTo>
                    <a:pt x="1179110" y="0"/>
                    <a:pt x="1194898" y="15788"/>
                    <a:pt x="1194898" y="35263"/>
                  </a:cubicBezTo>
                  <a:lnTo>
                    <a:pt x="1194898" y="496471"/>
                  </a:lnTo>
                  <a:cubicBezTo>
                    <a:pt x="1194898" y="515946"/>
                    <a:pt x="1179110" y="531734"/>
                    <a:pt x="1159634" y="531734"/>
                  </a:cubicBezTo>
                  <a:lnTo>
                    <a:pt x="35263" y="531734"/>
                  </a:lnTo>
                  <a:cubicBezTo>
                    <a:pt x="15788" y="531734"/>
                    <a:pt x="0" y="515946"/>
                    <a:pt x="0" y="496471"/>
                  </a:cubicBezTo>
                  <a:lnTo>
                    <a:pt x="0" y="35263"/>
                  </a:lnTo>
                  <a:cubicBezTo>
                    <a:pt x="0" y="15788"/>
                    <a:pt x="15788" y="0"/>
                    <a:pt x="35263" y="0"/>
                  </a:cubicBezTo>
                  <a:close/>
                </a:path>
              </a:pathLst>
            </a:custGeom>
            <a:solidFill>
              <a:srgbClr val="9D9993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194898" cy="5793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sz="2499" b="true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Reconciliation Service</a:t>
              </a:r>
            </a:p>
            <a:p>
              <a:pPr algn="ctr">
                <a:lnSpc>
                  <a:spcPts val="3499"/>
                </a:lnSpc>
              </a:pPr>
              <a:r>
                <a:rPr lang="en-US" sz="2499" b="true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 (Matching + Risk Scoring Logic)</a:t>
              </a:r>
            </a:p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971305" y="7701241"/>
            <a:ext cx="4287995" cy="1908175"/>
            <a:chOff x="0" y="0"/>
            <a:chExt cx="1194898" cy="53173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94898" cy="531734"/>
            </a:xfrm>
            <a:custGeom>
              <a:avLst/>
              <a:gdLst/>
              <a:ahLst/>
              <a:cxnLst/>
              <a:rect r="r" b="b" t="t" l="l"/>
              <a:pathLst>
                <a:path h="531734" w="1194898">
                  <a:moveTo>
                    <a:pt x="35263" y="0"/>
                  </a:moveTo>
                  <a:lnTo>
                    <a:pt x="1159634" y="0"/>
                  </a:lnTo>
                  <a:cubicBezTo>
                    <a:pt x="1179110" y="0"/>
                    <a:pt x="1194898" y="15788"/>
                    <a:pt x="1194898" y="35263"/>
                  </a:cubicBezTo>
                  <a:lnTo>
                    <a:pt x="1194898" y="496471"/>
                  </a:lnTo>
                  <a:cubicBezTo>
                    <a:pt x="1194898" y="515946"/>
                    <a:pt x="1179110" y="531734"/>
                    <a:pt x="1159634" y="531734"/>
                  </a:cubicBezTo>
                  <a:lnTo>
                    <a:pt x="35263" y="531734"/>
                  </a:lnTo>
                  <a:cubicBezTo>
                    <a:pt x="15788" y="531734"/>
                    <a:pt x="0" y="515946"/>
                    <a:pt x="0" y="496471"/>
                  </a:cubicBezTo>
                  <a:lnTo>
                    <a:pt x="0" y="35263"/>
                  </a:lnTo>
                  <a:cubicBezTo>
                    <a:pt x="0" y="15788"/>
                    <a:pt x="15788" y="0"/>
                    <a:pt x="35263" y="0"/>
                  </a:cubicBezTo>
                  <a:close/>
                </a:path>
              </a:pathLst>
            </a:custGeom>
            <a:solidFill>
              <a:srgbClr val="9D9993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194898" cy="5793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sz="2499" b="true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Ledger Store</a:t>
              </a:r>
            </a:p>
            <a:p>
              <a:pPr algn="ctr">
                <a:lnSpc>
                  <a:spcPts val="3499"/>
                </a:lnSpc>
              </a:pPr>
              <a:r>
                <a:rPr lang="en-US" b="true" sz="2499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 (Transaction Records)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3897311" y="170520"/>
            <a:ext cx="4390689" cy="1716360"/>
          </a:xfrm>
          <a:custGeom>
            <a:avLst/>
            <a:gdLst/>
            <a:ahLst/>
            <a:cxnLst/>
            <a:rect r="r" b="b" t="t" l="l"/>
            <a:pathLst>
              <a:path h="1716360" w="4390689">
                <a:moveTo>
                  <a:pt x="0" y="0"/>
                </a:moveTo>
                <a:lnTo>
                  <a:pt x="4390689" y="0"/>
                </a:lnTo>
                <a:lnTo>
                  <a:pt x="4390689" y="1716360"/>
                </a:lnTo>
                <a:lnTo>
                  <a:pt x="0" y="17163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1932912">
            <a:off x="2698769" y="4695064"/>
            <a:ext cx="1362650" cy="448436"/>
          </a:xfrm>
          <a:custGeom>
            <a:avLst/>
            <a:gdLst/>
            <a:ahLst/>
            <a:cxnLst/>
            <a:rect r="r" b="b" t="t" l="l"/>
            <a:pathLst>
              <a:path h="448436" w="1362650">
                <a:moveTo>
                  <a:pt x="0" y="0"/>
                </a:moveTo>
                <a:lnTo>
                  <a:pt x="1362650" y="0"/>
                </a:lnTo>
                <a:lnTo>
                  <a:pt x="1362650" y="448436"/>
                </a:lnTo>
                <a:lnTo>
                  <a:pt x="0" y="44843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241054" y="683473"/>
            <a:ext cx="7640729" cy="78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Solution Architecture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1932912">
            <a:off x="6717793" y="6684249"/>
            <a:ext cx="1362650" cy="448436"/>
          </a:xfrm>
          <a:custGeom>
            <a:avLst/>
            <a:gdLst/>
            <a:ahLst/>
            <a:cxnLst/>
            <a:rect r="r" b="b" t="t" l="l"/>
            <a:pathLst>
              <a:path h="448436" w="1362650">
                <a:moveTo>
                  <a:pt x="0" y="0"/>
                </a:moveTo>
                <a:lnTo>
                  <a:pt x="1362650" y="0"/>
                </a:lnTo>
                <a:lnTo>
                  <a:pt x="1362650" y="448435"/>
                </a:lnTo>
                <a:lnTo>
                  <a:pt x="0" y="44843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1932912">
            <a:off x="11137176" y="8481167"/>
            <a:ext cx="1362650" cy="448436"/>
          </a:xfrm>
          <a:custGeom>
            <a:avLst/>
            <a:gdLst/>
            <a:ahLst/>
            <a:cxnLst/>
            <a:rect r="r" b="b" t="t" l="l"/>
            <a:pathLst>
              <a:path h="448436" w="1362650">
                <a:moveTo>
                  <a:pt x="0" y="0"/>
                </a:moveTo>
                <a:lnTo>
                  <a:pt x="1362650" y="0"/>
                </a:lnTo>
                <a:lnTo>
                  <a:pt x="1362650" y="448436"/>
                </a:lnTo>
                <a:lnTo>
                  <a:pt x="0" y="44843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897311" y="170520"/>
            <a:ext cx="4390689" cy="1716360"/>
          </a:xfrm>
          <a:custGeom>
            <a:avLst/>
            <a:gdLst/>
            <a:ahLst/>
            <a:cxnLst/>
            <a:rect r="r" b="b" t="t" l="l"/>
            <a:pathLst>
              <a:path h="1716360" w="4390689">
                <a:moveTo>
                  <a:pt x="0" y="0"/>
                </a:moveTo>
                <a:lnTo>
                  <a:pt x="4390689" y="0"/>
                </a:lnTo>
                <a:lnTo>
                  <a:pt x="4390689" y="1716360"/>
                </a:lnTo>
                <a:lnTo>
                  <a:pt x="0" y="17163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-10800000">
            <a:off x="7005937" y="2199171"/>
            <a:ext cx="789988" cy="531458"/>
            <a:chOff x="0" y="0"/>
            <a:chExt cx="647700" cy="43573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47700" cy="435735"/>
            </a:xfrm>
            <a:custGeom>
              <a:avLst/>
              <a:gdLst/>
              <a:ahLst/>
              <a:cxnLst/>
              <a:rect r="r" b="b" t="t" l="l"/>
              <a:pathLst>
                <a:path h="435735" w="647700">
                  <a:moveTo>
                    <a:pt x="239386" y="165785"/>
                  </a:moveTo>
                  <a:lnTo>
                    <a:pt x="647700" y="165785"/>
                  </a:lnTo>
                  <a:lnTo>
                    <a:pt x="647700" y="269930"/>
                  </a:lnTo>
                  <a:lnTo>
                    <a:pt x="239373" y="269930"/>
                  </a:lnTo>
                  <a:lnTo>
                    <a:pt x="302255" y="435735"/>
                  </a:lnTo>
                  <a:lnTo>
                    <a:pt x="0" y="217867"/>
                  </a:lnTo>
                  <a:lnTo>
                    <a:pt x="302255" y="0"/>
                  </a:lnTo>
                  <a:lnTo>
                    <a:pt x="239386" y="165785"/>
                  </a:lnTo>
                  <a:close/>
                </a:path>
              </a:pathLst>
            </a:custGeom>
            <a:solidFill>
              <a:srgbClr val="9D9993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120650" y="127000"/>
              <a:ext cx="527050" cy="1436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368924" y="540264"/>
            <a:ext cx="10962570" cy="78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08"/>
              </a:lnSpc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Built on Microsoft Azure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57508" y="2235328"/>
            <a:ext cx="4095750" cy="495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47695" indent="-323848" lvl="1">
              <a:lnSpc>
                <a:spcPts val="4199"/>
              </a:lnSpc>
              <a:buFont typeface="Arial"/>
              <a:buChar char="•"/>
            </a:pPr>
            <a:r>
              <a:rPr lang="en-US" b="true" sz="29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Azure Event Hubs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45480" y="2193437"/>
            <a:ext cx="10401538" cy="495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Real-time transaction ingestion (Kafka-compatible)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57508" y="3070710"/>
            <a:ext cx="3835956" cy="495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47695" indent="-323848" lvl="1">
              <a:lnSpc>
                <a:spcPts val="4199"/>
              </a:lnSpc>
              <a:buFont typeface="Arial"/>
              <a:buChar char="•"/>
            </a:pPr>
            <a:r>
              <a:rPr lang="en-US" b="true" sz="29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Azure Functions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845480" y="2993537"/>
            <a:ext cx="10221397" cy="495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Serverless stream processing &amp; reconciliation logic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57508" y="3908910"/>
            <a:ext cx="4259937" cy="495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47695" indent="-323848" lvl="1">
              <a:lnSpc>
                <a:spcPts val="4199"/>
              </a:lnSpc>
              <a:buFont typeface="Arial"/>
              <a:buChar char="•"/>
            </a:pPr>
            <a:r>
              <a:rPr lang="en-US" b="true" sz="29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Azure App Service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904608" y="3879849"/>
            <a:ext cx="8188047" cy="495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Backend APIs and reconciliation services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57508" y="4747111"/>
            <a:ext cx="3869531" cy="495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47695" indent="-323848" lvl="1">
              <a:lnSpc>
                <a:spcPts val="4199"/>
              </a:lnSpc>
              <a:buFont typeface="Arial"/>
              <a:buChar char="•"/>
            </a:pPr>
            <a:r>
              <a:rPr lang="en-US" b="true" sz="29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Azure Web Apps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904608" y="4723055"/>
            <a:ext cx="5329238" cy="495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Hosting the live dashboard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57508" y="5585312"/>
            <a:ext cx="5818347" cy="495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47695" indent="-323848" lvl="1">
              <a:lnSpc>
                <a:spcPts val="4199"/>
              </a:lnSpc>
              <a:buFont typeface="Arial"/>
              <a:buChar char="•"/>
            </a:pPr>
            <a:r>
              <a:rPr lang="en-US" b="true" sz="29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Azure Storage / Azure SQL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926009" y="5566262"/>
            <a:ext cx="6810970" cy="495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Secure transaction ledger storage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57508" y="6423512"/>
            <a:ext cx="3451265" cy="495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47695" indent="-323848" lvl="1">
              <a:lnSpc>
                <a:spcPts val="4199"/>
              </a:lnSpc>
              <a:buFont typeface="Arial"/>
              <a:buChar char="•"/>
            </a:pPr>
            <a:r>
              <a:rPr lang="en-US" b="true" sz="29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Azure Monitor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926009" y="6381621"/>
            <a:ext cx="7215902" cy="495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Logging, metrics, and system health</a:t>
            </a:r>
          </a:p>
        </p:txBody>
      </p:sp>
      <p:grpSp>
        <p:nvGrpSpPr>
          <p:cNvPr name="Group 20" id="20"/>
          <p:cNvGrpSpPr/>
          <p:nvPr/>
        </p:nvGrpSpPr>
        <p:grpSpPr>
          <a:xfrm rot="-10800000">
            <a:off x="7005937" y="3041162"/>
            <a:ext cx="789988" cy="531458"/>
            <a:chOff x="0" y="0"/>
            <a:chExt cx="647700" cy="43573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47700" cy="435735"/>
            </a:xfrm>
            <a:custGeom>
              <a:avLst/>
              <a:gdLst/>
              <a:ahLst/>
              <a:cxnLst/>
              <a:rect r="r" b="b" t="t" l="l"/>
              <a:pathLst>
                <a:path h="435735" w="647700">
                  <a:moveTo>
                    <a:pt x="239386" y="165785"/>
                  </a:moveTo>
                  <a:lnTo>
                    <a:pt x="647700" y="165785"/>
                  </a:lnTo>
                  <a:lnTo>
                    <a:pt x="647700" y="269930"/>
                  </a:lnTo>
                  <a:lnTo>
                    <a:pt x="239373" y="269930"/>
                  </a:lnTo>
                  <a:lnTo>
                    <a:pt x="302255" y="435735"/>
                  </a:lnTo>
                  <a:lnTo>
                    <a:pt x="0" y="217867"/>
                  </a:lnTo>
                  <a:lnTo>
                    <a:pt x="302255" y="0"/>
                  </a:lnTo>
                  <a:lnTo>
                    <a:pt x="239386" y="165785"/>
                  </a:lnTo>
                  <a:close/>
                </a:path>
              </a:pathLst>
            </a:custGeom>
            <a:solidFill>
              <a:srgbClr val="9D9993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120650" y="127000"/>
              <a:ext cx="527050" cy="1436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-10800000">
            <a:off x="7005937" y="4710954"/>
            <a:ext cx="789988" cy="531458"/>
            <a:chOff x="0" y="0"/>
            <a:chExt cx="647700" cy="43573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47700" cy="435735"/>
            </a:xfrm>
            <a:custGeom>
              <a:avLst/>
              <a:gdLst/>
              <a:ahLst/>
              <a:cxnLst/>
              <a:rect r="r" b="b" t="t" l="l"/>
              <a:pathLst>
                <a:path h="435735" w="647700">
                  <a:moveTo>
                    <a:pt x="239386" y="165785"/>
                  </a:moveTo>
                  <a:lnTo>
                    <a:pt x="647700" y="165785"/>
                  </a:lnTo>
                  <a:lnTo>
                    <a:pt x="647700" y="269930"/>
                  </a:lnTo>
                  <a:lnTo>
                    <a:pt x="239373" y="269930"/>
                  </a:lnTo>
                  <a:lnTo>
                    <a:pt x="302255" y="435735"/>
                  </a:lnTo>
                  <a:lnTo>
                    <a:pt x="0" y="217867"/>
                  </a:lnTo>
                  <a:lnTo>
                    <a:pt x="302255" y="0"/>
                  </a:lnTo>
                  <a:lnTo>
                    <a:pt x="239386" y="165785"/>
                  </a:lnTo>
                  <a:close/>
                </a:path>
              </a:pathLst>
            </a:custGeom>
            <a:solidFill>
              <a:srgbClr val="9D9993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120650" y="127000"/>
              <a:ext cx="527050" cy="1436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-10800000">
            <a:off x="7005937" y="3956535"/>
            <a:ext cx="789988" cy="531458"/>
            <a:chOff x="0" y="0"/>
            <a:chExt cx="647700" cy="43573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47700" cy="435735"/>
            </a:xfrm>
            <a:custGeom>
              <a:avLst/>
              <a:gdLst/>
              <a:ahLst/>
              <a:cxnLst/>
              <a:rect r="r" b="b" t="t" l="l"/>
              <a:pathLst>
                <a:path h="435735" w="647700">
                  <a:moveTo>
                    <a:pt x="239386" y="165785"/>
                  </a:moveTo>
                  <a:lnTo>
                    <a:pt x="647700" y="165785"/>
                  </a:lnTo>
                  <a:lnTo>
                    <a:pt x="647700" y="269930"/>
                  </a:lnTo>
                  <a:lnTo>
                    <a:pt x="239373" y="269930"/>
                  </a:lnTo>
                  <a:lnTo>
                    <a:pt x="302255" y="435735"/>
                  </a:lnTo>
                  <a:lnTo>
                    <a:pt x="0" y="217867"/>
                  </a:lnTo>
                  <a:lnTo>
                    <a:pt x="302255" y="0"/>
                  </a:lnTo>
                  <a:lnTo>
                    <a:pt x="239386" y="165785"/>
                  </a:lnTo>
                  <a:close/>
                </a:path>
              </a:pathLst>
            </a:custGeom>
            <a:solidFill>
              <a:srgbClr val="9D9993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120650" y="127000"/>
              <a:ext cx="527050" cy="1436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-10800000">
            <a:off x="7005937" y="5530104"/>
            <a:ext cx="789988" cy="531458"/>
            <a:chOff x="0" y="0"/>
            <a:chExt cx="647700" cy="43573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47700" cy="435735"/>
            </a:xfrm>
            <a:custGeom>
              <a:avLst/>
              <a:gdLst/>
              <a:ahLst/>
              <a:cxnLst/>
              <a:rect r="r" b="b" t="t" l="l"/>
              <a:pathLst>
                <a:path h="435735" w="647700">
                  <a:moveTo>
                    <a:pt x="239386" y="165785"/>
                  </a:moveTo>
                  <a:lnTo>
                    <a:pt x="647700" y="165785"/>
                  </a:lnTo>
                  <a:lnTo>
                    <a:pt x="647700" y="269930"/>
                  </a:lnTo>
                  <a:lnTo>
                    <a:pt x="239373" y="269930"/>
                  </a:lnTo>
                  <a:lnTo>
                    <a:pt x="302255" y="435735"/>
                  </a:lnTo>
                  <a:lnTo>
                    <a:pt x="0" y="217867"/>
                  </a:lnTo>
                  <a:lnTo>
                    <a:pt x="302255" y="0"/>
                  </a:lnTo>
                  <a:lnTo>
                    <a:pt x="239386" y="165785"/>
                  </a:lnTo>
                  <a:close/>
                </a:path>
              </a:pathLst>
            </a:custGeom>
            <a:solidFill>
              <a:srgbClr val="9D9993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120650" y="127000"/>
              <a:ext cx="527050" cy="1436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-10800000">
            <a:off x="7005937" y="6366362"/>
            <a:ext cx="789988" cy="531458"/>
            <a:chOff x="0" y="0"/>
            <a:chExt cx="647700" cy="435735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47700" cy="435735"/>
            </a:xfrm>
            <a:custGeom>
              <a:avLst/>
              <a:gdLst/>
              <a:ahLst/>
              <a:cxnLst/>
              <a:rect r="r" b="b" t="t" l="l"/>
              <a:pathLst>
                <a:path h="435735" w="647700">
                  <a:moveTo>
                    <a:pt x="239386" y="165785"/>
                  </a:moveTo>
                  <a:lnTo>
                    <a:pt x="647700" y="165785"/>
                  </a:lnTo>
                  <a:lnTo>
                    <a:pt x="647700" y="269930"/>
                  </a:lnTo>
                  <a:lnTo>
                    <a:pt x="239373" y="269930"/>
                  </a:lnTo>
                  <a:lnTo>
                    <a:pt x="302255" y="435735"/>
                  </a:lnTo>
                  <a:lnTo>
                    <a:pt x="0" y="217867"/>
                  </a:lnTo>
                  <a:lnTo>
                    <a:pt x="302255" y="0"/>
                  </a:lnTo>
                  <a:lnTo>
                    <a:pt x="239386" y="165785"/>
                  </a:lnTo>
                  <a:close/>
                </a:path>
              </a:pathLst>
            </a:custGeom>
            <a:solidFill>
              <a:srgbClr val="9D9993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120650" y="127000"/>
              <a:ext cx="527050" cy="1436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5779736" y="8339691"/>
            <a:ext cx="12437791" cy="495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 i="true">
                <a:solidFill>
                  <a:srgbClr val="000000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Azure services chosen for scalability, reliability, and security.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892696" y="1595455"/>
          <a:ext cx="16502608" cy="8020050"/>
        </p:xfrm>
        <a:graphic>
          <a:graphicData uri="http://schemas.openxmlformats.org/drawingml/2006/table">
            <a:tbl>
              <a:tblPr/>
              <a:tblGrid>
                <a:gridCol w="2510029"/>
                <a:gridCol w="6691950"/>
                <a:gridCol w="7300629"/>
              </a:tblGrid>
              <a:tr h="80200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15"/>
                        </a:lnSpc>
                        <a:defRPr/>
                      </a:pPr>
                      <a:r>
                        <a:rPr lang="en-US" sz="2296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Feature</a:t>
                      </a:r>
                      <a:endParaRPr lang="en-US" sz="1100"/>
                    </a:p>
                  </a:txBody>
                  <a:tcPr marL="153564" marR="153564" marT="153564" marB="153564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15"/>
                        </a:lnSpc>
                        <a:defRPr/>
                      </a:pPr>
                      <a:r>
                        <a:rPr lang="en-US" sz="2296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❌ The Old Way (Status Quo)</a:t>
                      </a:r>
                      <a:endParaRPr lang="en-US" sz="1100"/>
                    </a:p>
                  </a:txBody>
                  <a:tcPr marL="153564" marR="153564" marT="153564" marB="153564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15"/>
                        </a:lnSpc>
                        <a:defRPr/>
                      </a:pPr>
                      <a:r>
                        <a:rPr lang="en-US" sz="2296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✅ The Reconciliation Engine (Our Solution)</a:t>
                      </a:r>
                      <a:endParaRPr lang="en-US" sz="1100"/>
                    </a:p>
                  </a:txBody>
                  <a:tcPr marL="153564" marR="153564" marT="153564" marB="153564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A"/>
                    </a:solidFill>
                  </a:tcPr>
                </a:tc>
              </a:tr>
              <a:tr h="200501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15"/>
                        </a:lnSpc>
                        <a:defRPr/>
                      </a:pPr>
                      <a:r>
                        <a:rPr lang="en-US" sz="2296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Speed</a:t>
                      </a:r>
                      <a:endParaRPr lang="en-US" sz="1100"/>
                    </a:p>
                  </a:txBody>
                  <a:tcPr marL="153564" marR="153564" marT="153564" marB="153564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15"/>
                        </a:lnSpc>
                        <a:defRPr/>
                      </a:pPr>
                      <a:r>
                        <a:rPr lang="en-US" sz="2296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T+1 (Overnight)</a:t>
                      </a:r>
                      <a:endParaRPr lang="en-US" sz="1100"/>
                    </a:p>
                    <a:p>
                      <a:pPr algn="ctr">
                        <a:lnSpc>
                          <a:spcPts val="3215"/>
                        </a:lnSpc>
                      </a:pPr>
                      <a:r>
                        <a:rPr lang="en-US" sz="2296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Errors detected 24 hours later.</a:t>
                      </a:r>
                    </a:p>
                  </a:txBody>
                  <a:tcPr marL="153564" marR="153564" marT="153564" marB="153564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15"/>
                        </a:lnSpc>
                        <a:defRPr/>
                      </a:pPr>
                      <a:r>
                        <a:rPr lang="en-US" sz="2296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T+0 (Real-Time)</a:t>
                      </a:r>
                      <a:endParaRPr lang="en-US" sz="1100"/>
                    </a:p>
                    <a:p>
                      <a:pPr algn="ctr">
                        <a:lnSpc>
                          <a:spcPts val="3215"/>
                        </a:lnSpc>
                      </a:pPr>
                    </a:p>
                    <a:p>
                      <a:pPr algn="ctr">
                        <a:lnSpc>
                          <a:spcPts val="3215"/>
                        </a:lnSpc>
                      </a:pPr>
                      <a:r>
                        <a:rPr lang="en-US" sz="2296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Milliseconds via Event-Driven Kafka.</a:t>
                      </a:r>
                    </a:p>
                    <a:p>
                      <a:pPr algn="ctr">
                        <a:lnSpc>
                          <a:spcPts val="3215"/>
                        </a:lnSpc>
                      </a:pPr>
                    </a:p>
                  </a:txBody>
                  <a:tcPr marL="153564" marR="153564" marT="153564" marB="153564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A"/>
                    </a:solidFill>
                  </a:tcPr>
                </a:tc>
              </a:tr>
              <a:tr h="200501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15"/>
                        </a:lnSpc>
                        <a:defRPr/>
                      </a:pPr>
                      <a:r>
                        <a:rPr lang="en-US" sz="2296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Resilience</a:t>
                      </a:r>
                      <a:endParaRPr lang="en-US" sz="1100"/>
                    </a:p>
                  </a:txBody>
                  <a:tcPr marL="153564" marR="153564" marT="153564" marB="153564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15"/>
                        </a:lnSpc>
                        <a:defRPr/>
                      </a:pPr>
                      <a:r>
                        <a:rPr lang="en-US" sz="2296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"Happy Path" Testing</a:t>
                      </a:r>
                      <a:endParaRPr lang="en-US" sz="1100"/>
                    </a:p>
                    <a:p>
                      <a:pPr algn="ctr">
                        <a:lnSpc>
                          <a:spcPts val="3215"/>
                        </a:lnSpc>
                      </a:pPr>
                    </a:p>
                    <a:p>
                      <a:pPr algn="ctr">
                        <a:lnSpc>
                          <a:spcPts val="3215"/>
                        </a:lnSpc>
                      </a:pPr>
                      <a:r>
                        <a:rPr lang="en-US" sz="2296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Systems break when real networks fail.</a:t>
                      </a:r>
                    </a:p>
                    <a:p>
                      <a:pPr algn="ctr">
                        <a:lnSpc>
                          <a:spcPts val="3215"/>
                        </a:lnSpc>
                      </a:pPr>
                    </a:p>
                  </a:txBody>
                  <a:tcPr marL="153564" marR="153564" marT="153564" marB="153564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15"/>
                        </a:lnSpc>
                        <a:defRPr/>
                      </a:pPr>
                      <a:r>
                        <a:rPr lang="en-US" sz="2296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Built-In Chaos Engineering</a:t>
                      </a:r>
                      <a:endParaRPr lang="en-US" sz="1100"/>
                    </a:p>
                    <a:p>
                      <a:pPr algn="ctr">
                        <a:lnSpc>
                          <a:spcPts val="3215"/>
                        </a:lnSpc>
                      </a:pPr>
                    </a:p>
                    <a:p>
                      <a:pPr algn="ctr">
                        <a:lnSpc>
                          <a:spcPts val="3215"/>
                        </a:lnSpc>
                      </a:pPr>
                      <a:r>
                        <a:rPr lang="en-US" sz="2296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Active 24/7 simulation of drops &amp; latency.</a:t>
                      </a:r>
                    </a:p>
                  </a:txBody>
                  <a:tcPr marL="153564" marR="153564" marT="153564" marB="153564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A"/>
                    </a:solidFill>
                  </a:tcPr>
                </a:tc>
              </a:tr>
              <a:tr h="240601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15"/>
                        </a:lnSpc>
                        <a:defRPr/>
                      </a:pPr>
                      <a:r>
                        <a:rPr lang="en-US" sz="2296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Resolution</a:t>
                      </a:r>
                      <a:endParaRPr lang="en-US" sz="1100"/>
                    </a:p>
                  </a:txBody>
                  <a:tcPr marL="153564" marR="153564" marT="153564" marB="153564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15"/>
                        </a:lnSpc>
                        <a:defRPr/>
                      </a:pPr>
                      <a:r>
                        <a:rPr lang="en-US" sz="2296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Manual Spreadsheets</a:t>
                      </a:r>
                      <a:endParaRPr lang="en-US" sz="1100"/>
                    </a:p>
                    <a:p>
                      <a:pPr algn="ctr">
                        <a:lnSpc>
                          <a:spcPts val="3215"/>
                        </a:lnSpc>
                      </a:pPr>
                    </a:p>
                    <a:p>
                      <a:pPr algn="ctr">
                        <a:lnSpc>
                          <a:spcPts val="3215"/>
                        </a:lnSpc>
                      </a:pPr>
                      <a:r>
                        <a:rPr lang="en-US" sz="2296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Hours spent "staring and comparing."</a:t>
                      </a:r>
                    </a:p>
                    <a:p>
                      <a:pPr algn="ctr">
                        <a:lnSpc>
                          <a:spcPts val="3215"/>
                        </a:lnSpc>
                      </a:pPr>
                    </a:p>
                  </a:txBody>
                  <a:tcPr marL="153564" marR="153564" marT="153564" marB="153564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15"/>
                        </a:lnSpc>
                        <a:defRPr/>
                      </a:pPr>
                      <a:r>
                        <a:rPr lang="en-US" sz="2296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Automated Self-Healing</a:t>
                      </a:r>
                      <a:endParaRPr lang="en-US" sz="1100"/>
                    </a:p>
                    <a:p>
                      <a:pPr algn="ctr">
                        <a:lnSpc>
                          <a:spcPts val="3215"/>
                        </a:lnSpc>
                      </a:pPr>
                    </a:p>
                    <a:p>
                      <a:pPr algn="ctr">
                        <a:lnSpc>
                          <a:spcPts val="3215"/>
                        </a:lnSpc>
                      </a:pPr>
                      <a:r>
                        <a:rPr lang="en-US" sz="2296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Algorithmic consensus voting (No human input).</a:t>
                      </a:r>
                    </a:p>
                    <a:p>
                      <a:pPr algn="ctr">
                        <a:lnSpc>
                          <a:spcPts val="3215"/>
                        </a:lnSpc>
                      </a:pPr>
                    </a:p>
                  </a:txBody>
                  <a:tcPr marL="153564" marR="153564" marT="153564" marB="153564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A"/>
                    </a:solidFill>
                  </a:tcPr>
                </a:tc>
              </a:tr>
              <a:tr h="80200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15"/>
                        </a:lnSpc>
                        <a:defRPr/>
                      </a:pPr>
                      <a:r>
                        <a:rPr lang="en-US" sz="2296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Impact</a:t>
                      </a:r>
                      <a:endParaRPr lang="en-US" sz="1100"/>
                    </a:p>
                  </a:txBody>
                  <a:tcPr marL="153564" marR="153564" marT="153564" marB="153564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15"/>
                        </a:lnSpc>
                        <a:defRPr/>
                      </a:pPr>
                      <a:r>
                        <a:rPr lang="en-US" sz="2296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High Operational Anxiety</a:t>
                      </a:r>
                      <a:endParaRPr lang="en-US" sz="1100"/>
                    </a:p>
                  </a:txBody>
                  <a:tcPr marL="153564" marR="153564" marT="153564" marB="153564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15"/>
                        </a:lnSpc>
                        <a:defRPr/>
                      </a:pPr>
                      <a:r>
                        <a:rPr lang="en-US" sz="2296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90% Reduction in Manual Overhead</a:t>
                      </a:r>
                      <a:endParaRPr lang="en-US" sz="1100"/>
                    </a:p>
                  </a:txBody>
                  <a:tcPr marL="153564" marR="153564" marT="153564" marB="153564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EA"/>
                    </a:solidFill>
                  </a:tcPr>
                </a:tc>
              </a:tr>
            </a:tbl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756692" y="577142"/>
            <a:ext cx="16230600" cy="716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229"/>
              </a:lnSpc>
              <a:spcBef>
                <a:spcPct val="0"/>
              </a:spcBef>
            </a:pPr>
            <a:r>
              <a:rPr lang="en-US" sz="5810" spc="-458" strike="noStrike" u="none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What Makes Us Different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289411" y="1995473"/>
            <a:ext cx="3086100" cy="1272128"/>
            <a:chOff x="0" y="0"/>
            <a:chExt cx="812800" cy="33504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335046"/>
            </a:xfrm>
            <a:custGeom>
              <a:avLst/>
              <a:gdLst/>
              <a:ahLst/>
              <a:cxnLst/>
              <a:rect r="r" b="b" t="t" l="l"/>
              <a:pathLst>
                <a:path h="335046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335046"/>
                  </a:lnTo>
                  <a:lnTo>
                    <a:pt x="0" y="335046"/>
                  </a:lnTo>
                  <a:close/>
                </a:path>
              </a:pathLst>
            </a:custGeom>
            <a:solidFill>
              <a:srgbClr val="A6A6A6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812800" cy="3731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438167" y="3726314"/>
            <a:ext cx="3086100" cy="1417186"/>
            <a:chOff x="0" y="0"/>
            <a:chExt cx="812800" cy="37325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373251"/>
            </a:xfrm>
            <a:custGeom>
              <a:avLst/>
              <a:gdLst/>
              <a:ahLst/>
              <a:cxnLst/>
              <a:rect r="r" b="b" t="t" l="l"/>
              <a:pathLst>
                <a:path h="373251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373251"/>
                  </a:lnTo>
                  <a:lnTo>
                    <a:pt x="0" y="373251"/>
                  </a:lnTo>
                  <a:close/>
                </a:path>
              </a:pathLst>
            </a:custGeom>
            <a:solidFill>
              <a:srgbClr val="A6A6A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812800" cy="4113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605845" y="6353221"/>
            <a:ext cx="6427627" cy="909327"/>
            <a:chOff x="0" y="0"/>
            <a:chExt cx="1692873" cy="23949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92873" cy="239493"/>
            </a:xfrm>
            <a:custGeom>
              <a:avLst/>
              <a:gdLst/>
              <a:ahLst/>
              <a:cxnLst/>
              <a:rect r="r" b="b" t="t" l="l"/>
              <a:pathLst>
                <a:path h="239493" w="1692873">
                  <a:moveTo>
                    <a:pt x="0" y="0"/>
                  </a:moveTo>
                  <a:lnTo>
                    <a:pt x="1692873" y="0"/>
                  </a:lnTo>
                  <a:lnTo>
                    <a:pt x="1692873" y="239493"/>
                  </a:lnTo>
                  <a:lnTo>
                    <a:pt x="0" y="239493"/>
                  </a:lnTo>
                  <a:close/>
                </a:path>
              </a:pathLst>
            </a:custGeom>
            <a:solidFill>
              <a:srgbClr val="A6A6A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692873" cy="2775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033473" y="3872365"/>
            <a:ext cx="5854794" cy="1271135"/>
            <a:chOff x="0" y="0"/>
            <a:chExt cx="1542003" cy="33478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542003" cy="334784"/>
            </a:xfrm>
            <a:custGeom>
              <a:avLst/>
              <a:gdLst/>
              <a:ahLst/>
              <a:cxnLst/>
              <a:rect r="r" b="b" t="t" l="l"/>
              <a:pathLst>
                <a:path h="334784" w="1542003">
                  <a:moveTo>
                    <a:pt x="0" y="0"/>
                  </a:moveTo>
                  <a:lnTo>
                    <a:pt x="1542003" y="0"/>
                  </a:lnTo>
                  <a:lnTo>
                    <a:pt x="1542003" y="334784"/>
                  </a:lnTo>
                  <a:lnTo>
                    <a:pt x="0" y="334784"/>
                  </a:lnTo>
                  <a:close/>
                </a:path>
              </a:pathLst>
            </a:custGeom>
            <a:solidFill>
              <a:srgbClr val="A6A6A6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542003" cy="3728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3228268" y="807119"/>
            <a:ext cx="11182783" cy="662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30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Continuous Improvement Loop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576738" y="8891322"/>
            <a:ext cx="12511444" cy="495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Each anomaly improves future detection and system resilience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503366" y="2263237"/>
            <a:ext cx="2658189" cy="66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Detection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96130" y="4014457"/>
            <a:ext cx="3228138" cy="66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Feedback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161767" y="6439584"/>
            <a:ext cx="5315784" cy="66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Model &amp; Rule Tuning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365724" y="4066606"/>
            <a:ext cx="5190292" cy="669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Improved Accuracy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1932912">
            <a:off x="3763820" y="6264070"/>
            <a:ext cx="1318653" cy="433957"/>
          </a:xfrm>
          <a:custGeom>
            <a:avLst/>
            <a:gdLst/>
            <a:ahLst/>
            <a:cxnLst/>
            <a:rect r="r" b="b" t="t" l="l"/>
            <a:pathLst>
              <a:path h="433957" w="1318653">
                <a:moveTo>
                  <a:pt x="0" y="0"/>
                </a:moveTo>
                <a:lnTo>
                  <a:pt x="1318653" y="0"/>
                </a:lnTo>
                <a:lnTo>
                  <a:pt x="1318653" y="433956"/>
                </a:lnTo>
                <a:lnTo>
                  <a:pt x="0" y="4339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8845419">
            <a:off x="4229661" y="2551026"/>
            <a:ext cx="1362650" cy="448436"/>
          </a:xfrm>
          <a:custGeom>
            <a:avLst/>
            <a:gdLst/>
            <a:ahLst/>
            <a:cxnLst/>
            <a:rect r="r" b="b" t="t" l="l"/>
            <a:pathLst>
              <a:path h="448436" w="1362650">
                <a:moveTo>
                  <a:pt x="0" y="0"/>
                </a:moveTo>
                <a:lnTo>
                  <a:pt x="1362650" y="0"/>
                </a:lnTo>
                <a:lnTo>
                  <a:pt x="1362650" y="448436"/>
                </a:lnTo>
                <a:lnTo>
                  <a:pt x="0" y="4484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-2489236">
            <a:off x="13389921" y="6129003"/>
            <a:ext cx="1362650" cy="448436"/>
          </a:xfrm>
          <a:custGeom>
            <a:avLst/>
            <a:gdLst/>
            <a:ahLst/>
            <a:cxnLst/>
            <a:rect r="r" b="b" t="t" l="l"/>
            <a:pathLst>
              <a:path h="448436" w="1362650">
                <a:moveTo>
                  <a:pt x="0" y="0"/>
                </a:moveTo>
                <a:lnTo>
                  <a:pt x="1362650" y="0"/>
                </a:lnTo>
                <a:lnTo>
                  <a:pt x="1362650" y="448436"/>
                </a:lnTo>
                <a:lnTo>
                  <a:pt x="0" y="4484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-9450184">
            <a:off x="13036684" y="2446643"/>
            <a:ext cx="1362650" cy="448436"/>
          </a:xfrm>
          <a:custGeom>
            <a:avLst/>
            <a:gdLst/>
            <a:ahLst/>
            <a:cxnLst/>
            <a:rect r="r" b="b" t="t" l="l"/>
            <a:pathLst>
              <a:path h="448436" w="1362650">
                <a:moveTo>
                  <a:pt x="0" y="0"/>
                </a:moveTo>
                <a:lnTo>
                  <a:pt x="1362650" y="0"/>
                </a:lnTo>
                <a:lnTo>
                  <a:pt x="1362650" y="448435"/>
                </a:lnTo>
                <a:lnTo>
                  <a:pt x="0" y="4484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399727" y="3397093"/>
            <a:ext cx="687549" cy="702920"/>
          </a:xfrm>
          <a:prstGeom prst="rect">
            <a:avLst/>
          </a:prstGeom>
        </p:spPr>
      </p:pic>
      <p:sp>
        <p:nvSpPr>
          <p:cNvPr name="Freeform 4" id="4"/>
          <p:cNvSpPr/>
          <p:nvPr/>
        </p:nvSpPr>
        <p:spPr>
          <a:xfrm flipH="false" flipV="false" rot="0">
            <a:off x="458304" y="4374812"/>
            <a:ext cx="625368" cy="462186"/>
          </a:xfrm>
          <a:custGeom>
            <a:avLst/>
            <a:gdLst/>
            <a:ahLst/>
            <a:cxnLst/>
            <a:rect r="r" b="b" t="t" l="l"/>
            <a:pathLst>
              <a:path h="462186" w="625368">
                <a:moveTo>
                  <a:pt x="0" y="0"/>
                </a:moveTo>
                <a:lnTo>
                  <a:pt x="625368" y="0"/>
                </a:lnTo>
                <a:lnTo>
                  <a:pt x="625368" y="462186"/>
                </a:lnTo>
                <a:lnTo>
                  <a:pt x="0" y="4621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12574" y="5348660"/>
            <a:ext cx="716828" cy="467893"/>
          </a:xfrm>
          <a:custGeom>
            <a:avLst/>
            <a:gdLst/>
            <a:ahLst/>
            <a:cxnLst/>
            <a:rect r="r" b="b" t="t" l="l"/>
            <a:pathLst>
              <a:path h="467893" w="716828">
                <a:moveTo>
                  <a:pt x="0" y="0"/>
                </a:moveTo>
                <a:lnTo>
                  <a:pt x="716828" y="0"/>
                </a:lnTo>
                <a:lnTo>
                  <a:pt x="716828" y="467893"/>
                </a:lnTo>
                <a:lnTo>
                  <a:pt x="0" y="46789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58304" y="6303455"/>
            <a:ext cx="570396" cy="527875"/>
          </a:xfrm>
          <a:custGeom>
            <a:avLst/>
            <a:gdLst/>
            <a:ahLst/>
            <a:cxnLst/>
            <a:rect r="r" b="b" t="t" l="l"/>
            <a:pathLst>
              <a:path h="527875" w="570396">
                <a:moveTo>
                  <a:pt x="0" y="0"/>
                </a:moveTo>
                <a:lnTo>
                  <a:pt x="570396" y="0"/>
                </a:lnTo>
                <a:lnTo>
                  <a:pt x="570396" y="527875"/>
                </a:lnTo>
                <a:lnTo>
                  <a:pt x="0" y="5278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091510" y="3955985"/>
            <a:ext cx="3366850" cy="2347470"/>
          </a:xfrm>
          <a:custGeom>
            <a:avLst/>
            <a:gdLst/>
            <a:ahLst/>
            <a:cxnLst/>
            <a:rect r="r" b="b" t="t" l="l"/>
            <a:pathLst>
              <a:path h="2347470" w="3366850">
                <a:moveTo>
                  <a:pt x="0" y="0"/>
                </a:moveTo>
                <a:lnTo>
                  <a:pt x="3366850" y="0"/>
                </a:lnTo>
                <a:lnTo>
                  <a:pt x="3366850" y="2347470"/>
                </a:lnTo>
                <a:lnTo>
                  <a:pt x="0" y="234747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843109" y="714225"/>
            <a:ext cx="7931826" cy="80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70"/>
              </a:lnSpc>
              <a:spcBef>
                <a:spcPct val="0"/>
              </a:spcBef>
            </a:pPr>
            <a:r>
              <a:rPr lang="en-US" sz="6522" spc="-515" strike="noStrike" u="none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Market Opportunity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-416143" y="1770380"/>
            <a:ext cx="18450329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60"/>
              </a:lnSpc>
              <a:spcBef>
                <a:spcPct val="0"/>
              </a:spcBef>
            </a:pPr>
            <a:r>
              <a:rPr lang="en-US" sz="3400" spc="-268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Any organization processing high-volume digital transactions faces this problem.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36776" y="3217545"/>
            <a:ext cx="8191484" cy="3613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19"/>
              </a:lnSpc>
            </a:pPr>
            <a:r>
              <a:rPr lang="en-US" sz="3999" spc="-31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3999" spc="-31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Banks &amp; NBFCs</a:t>
            </a:r>
          </a:p>
          <a:p>
            <a:pPr algn="l">
              <a:lnSpc>
                <a:spcPts val="7319"/>
              </a:lnSpc>
            </a:pPr>
            <a:r>
              <a:rPr lang="en-US" sz="3999" spc="-31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Fintech platforms</a:t>
            </a:r>
          </a:p>
          <a:p>
            <a:pPr algn="l">
              <a:lnSpc>
                <a:spcPts val="7319"/>
              </a:lnSpc>
            </a:pPr>
            <a:r>
              <a:rPr lang="en-US" sz="3999" spc="-31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Payment processors</a:t>
            </a:r>
          </a:p>
          <a:p>
            <a:pPr algn="l">
              <a:lnSpc>
                <a:spcPts val="7319"/>
              </a:lnSpc>
            </a:pPr>
            <a:r>
              <a:rPr lang="en-US" sz="3999" spc="-31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Digital wallets &amp; UPI apps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42026" y="7869555"/>
            <a:ext cx="12589193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60"/>
              </a:lnSpc>
              <a:spcBef>
                <a:spcPct val="0"/>
              </a:spcBef>
            </a:pPr>
            <a:r>
              <a:rPr lang="en-US" sz="3400" spc="-268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Reduced financial loss • Faster resolution • Improved customer trust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5455161" y="8917661"/>
            <a:ext cx="3066747" cy="1198819"/>
          </a:xfrm>
          <a:custGeom>
            <a:avLst/>
            <a:gdLst/>
            <a:ahLst/>
            <a:cxnLst/>
            <a:rect r="r" b="b" t="t" l="l"/>
            <a:pathLst>
              <a:path h="1198819" w="3066747">
                <a:moveTo>
                  <a:pt x="0" y="0"/>
                </a:moveTo>
                <a:lnTo>
                  <a:pt x="3066747" y="0"/>
                </a:lnTo>
                <a:lnTo>
                  <a:pt x="3066747" y="1198819"/>
                </a:lnTo>
                <a:lnTo>
                  <a:pt x="0" y="119881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15000"/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1047750" y="2265859"/>
          <a:ext cx="16211550" cy="6649541"/>
        </p:xfrm>
        <a:graphic>
          <a:graphicData uri="http://schemas.openxmlformats.org/drawingml/2006/table">
            <a:tbl>
              <a:tblPr/>
              <a:tblGrid>
                <a:gridCol w="5403850"/>
                <a:gridCol w="5403850"/>
                <a:gridCol w="5403850"/>
              </a:tblGrid>
              <a:tr h="127024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052"/>
                        </a:lnSpc>
                        <a:defRPr/>
                      </a:pPr>
                      <a:r>
                        <a:rPr lang="en-US" sz="2894" spc="-228">
                          <a:solidFill>
                            <a:srgbClr val="1F1F1F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Revenue Stream</a:t>
                      </a:r>
                      <a:endParaRPr lang="en-US" sz="1100"/>
                    </a:p>
                  </a:txBody>
                  <a:tcPr marL="71202" marR="71202" marT="71202" marB="71202" anchor="ctr">
                    <a:lnL cmpd="sng" algn="ctr" cap="flat" w="89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9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9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9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052"/>
                        </a:lnSpc>
                        <a:defRPr/>
                      </a:pPr>
                      <a:r>
                        <a:rPr lang="en-US" sz="2894" spc="-228">
                          <a:solidFill>
                            <a:srgbClr val="1F1F1F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Mechanism</a:t>
                      </a:r>
                      <a:endParaRPr lang="en-US" sz="1100"/>
                    </a:p>
                  </a:txBody>
                  <a:tcPr marL="71202" marR="71202" marT="71202" marB="71202" anchor="ctr">
                    <a:lnL cmpd="sng" algn="ctr" cap="flat" w="89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9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9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9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052"/>
                        </a:lnSpc>
                        <a:defRPr/>
                      </a:pPr>
                      <a:r>
                        <a:rPr lang="en-US" sz="2894" spc="-228">
                          <a:solidFill>
                            <a:srgbClr val="1F1F1F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Why It Wins</a:t>
                      </a:r>
                      <a:endParaRPr lang="en-US" sz="1100"/>
                    </a:p>
                  </a:txBody>
                  <a:tcPr marL="71202" marR="71202" marT="71202" marB="71202" anchor="ctr">
                    <a:lnL cmpd="sng" algn="ctr" cap="flat" w="89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9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9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9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9"/>
                    </a:solidFill>
                  </a:tcPr>
                </a:tc>
              </a:tr>
              <a:tr h="17931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052"/>
                        </a:lnSpc>
                        <a:defRPr/>
                      </a:pPr>
                      <a:r>
                        <a:rPr lang="en-US" sz="2894" spc="-228">
                          <a:solidFill>
                            <a:srgbClr val="1F1F1F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1. Subscription</a:t>
                      </a:r>
                      <a:endParaRPr lang="en-US" sz="1100"/>
                    </a:p>
                  </a:txBody>
                  <a:tcPr marL="71202" marR="71202" marT="71202" marB="71202" anchor="ctr">
                    <a:lnL cmpd="sng" algn="ctr" cap="flat" w="89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9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9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9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052"/>
                        </a:lnSpc>
                        <a:defRPr/>
                      </a:pPr>
                      <a:r>
                        <a:rPr lang="en-US" sz="2894" spc="-228">
                          <a:solidFill>
                            <a:srgbClr val="1F1F1F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Monthly Base Fee</a:t>
                      </a:r>
                      <a:endParaRPr lang="en-US" sz="1100"/>
                    </a:p>
                    <a:p>
                      <a:pPr algn="ctr">
                        <a:lnSpc>
                          <a:spcPts val="4052"/>
                        </a:lnSpc>
                      </a:pPr>
                    </a:p>
                    <a:p>
                      <a:pPr algn="ctr">
                        <a:lnSpc>
                          <a:spcPts val="4052"/>
                        </a:lnSpc>
                      </a:pPr>
                      <a:r>
                        <a:rPr lang="en-US" sz="2894" spc="-228">
                          <a:solidFill>
                            <a:srgbClr val="1F1F1F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(Free / Growth / Enterprise)</a:t>
                      </a:r>
                    </a:p>
                  </a:txBody>
                  <a:tcPr marL="71202" marR="71202" marT="71202" marB="71202" anchor="ctr">
                    <a:lnL cmpd="sng" algn="ctr" cap="flat" w="89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9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9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9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039"/>
                        </a:lnSpc>
                        <a:defRPr/>
                      </a:pPr>
                      <a:r>
                        <a:rPr lang="en-US" sz="2885">
                          <a:solidFill>
                            <a:srgbClr val="1F1F1F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Predictable MRR. "Product-Led Growth" captures devs early.</a:t>
                      </a:r>
                      <a:endParaRPr lang="en-US" sz="1100"/>
                    </a:p>
                  </a:txBody>
                  <a:tcPr marL="71202" marR="71202" marT="71202" marB="71202" anchor="ctr">
                    <a:lnL cmpd="sng" algn="ctr" cap="flat" w="89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9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9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9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931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052"/>
                        </a:lnSpc>
                        <a:defRPr/>
                      </a:pPr>
                      <a:r>
                        <a:rPr lang="en-US" sz="2894" spc="-228">
                          <a:solidFill>
                            <a:srgbClr val="1F1F1F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2. Usage (Scale)</a:t>
                      </a:r>
                      <a:endParaRPr lang="en-US" sz="1100"/>
                    </a:p>
                  </a:txBody>
                  <a:tcPr marL="71202" marR="71202" marT="71202" marB="71202" anchor="ctr">
                    <a:lnL cmpd="sng" algn="ctr" cap="flat" w="89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9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9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9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052"/>
                        </a:lnSpc>
                        <a:defRPr/>
                      </a:pPr>
                      <a:r>
                        <a:rPr lang="en-US" sz="2894" spc="-228">
                          <a:solidFill>
                            <a:srgbClr val="1F1F1F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Volume Overage</a:t>
                      </a:r>
                      <a:endParaRPr lang="en-US" sz="1100"/>
                    </a:p>
                    <a:p>
                      <a:pPr algn="ctr">
                        <a:lnSpc>
                          <a:spcPts val="4052"/>
                        </a:lnSpc>
                      </a:pPr>
                    </a:p>
                    <a:p>
                      <a:pPr algn="ctr">
                        <a:lnSpc>
                          <a:spcPts val="4052"/>
                        </a:lnSpc>
                      </a:pPr>
                      <a:r>
                        <a:rPr lang="en-US" sz="2894" spc="-228">
                          <a:solidFill>
                            <a:srgbClr val="1F1F1F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(Micro-fee per tx &gt; limit)</a:t>
                      </a:r>
                    </a:p>
                  </a:txBody>
                  <a:tcPr marL="71202" marR="71202" marT="71202" marB="71202" anchor="ctr">
                    <a:lnL cmpd="sng" algn="ctr" cap="flat" w="89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9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9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9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052"/>
                        </a:lnSpc>
                        <a:defRPr/>
                      </a:pPr>
                      <a:r>
                        <a:rPr lang="en-US" sz="2894" spc="-228">
                          <a:solidFill>
                            <a:srgbClr val="1F1F1F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Zero CAC Growth. As they succeed, we get paid more.</a:t>
                      </a:r>
                      <a:endParaRPr lang="en-US" sz="1100"/>
                    </a:p>
                  </a:txBody>
                  <a:tcPr marL="71202" marR="71202" marT="71202" marB="71202" anchor="ctr">
                    <a:lnL cmpd="sng" algn="ctr" cap="flat" w="89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9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9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9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9"/>
                    </a:solidFill>
                  </a:tcPr>
                </a:tc>
              </a:tr>
              <a:tr h="17931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052"/>
                        </a:lnSpc>
                        <a:defRPr/>
                      </a:pPr>
                      <a:r>
                        <a:rPr lang="en-US" sz="2894" spc="-228">
                          <a:solidFill>
                            <a:srgbClr val="1F1F1F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3. Premium</a:t>
                      </a:r>
                      <a:endParaRPr lang="en-US" sz="1100"/>
                    </a:p>
                  </a:txBody>
                  <a:tcPr marL="71202" marR="71202" marT="71202" marB="71202" anchor="ctr">
                    <a:lnL cmpd="sng" algn="ctr" cap="flat" w="89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9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9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9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052"/>
                        </a:lnSpc>
                        <a:defRPr/>
                      </a:pPr>
                      <a:r>
                        <a:rPr lang="en-US" sz="2894" spc="-228">
                          <a:solidFill>
                            <a:srgbClr val="1F1F1F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"Resilience" Module</a:t>
                      </a:r>
                      <a:endParaRPr lang="en-US" sz="1100"/>
                    </a:p>
                    <a:p>
                      <a:pPr algn="ctr">
                        <a:lnSpc>
                          <a:spcPts val="4052"/>
                        </a:lnSpc>
                      </a:pPr>
                    </a:p>
                    <a:p>
                      <a:pPr algn="ctr">
                        <a:lnSpc>
                          <a:spcPts val="4052"/>
                        </a:lnSpc>
                      </a:pPr>
                      <a:r>
                        <a:rPr lang="en-US" sz="2894" spc="-228">
                          <a:solidFill>
                            <a:srgbClr val="1F1F1F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(Chaos Engine Add-on)</a:t>
                      </a:r>
                    </a:p>
                  </a:txBody>
                  <a:tcPr marL="71202" marR="71202" marT="71202" marB="71202" anchor="ctr">
                    <a:lnL cmpd="sng" algn="ctr" cap="flat" w="89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9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9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9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052"/>
                        </a:lnSpc>
                        <a:defRPr/>
                      </a:pPr>
                      <a:r>
                        <a:rPr lang="en-US" sz="2894" spc="-228">
                          <a:solidFill>
                            <a:srgbClr val="1F1F1F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High Margin. Monetizes the need for safety during peak loads.</a:t>
                      </a:r>
                      <a:endParaRPr lang="en-US" sz="1100"/>
                    </a:p>
                  </a:txBody>
                  <a:tcPr marL="71202" marR="71202" marT="71202" marB="71202" anchor="ctr">
                    <a:lnL cmpd="sng" algn="ctr" cap="flat" w="89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9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9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9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9"/>
                    </a:solidFill>
                  </a:tcPr>
                </a:tc>
              </a:tr>
            </a:tbl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4404477" y="710482"/>
            <a:ext cx="9479047" cy="760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635"/>
              </a:lnSpc>
              <a:spcBef>
                <a:spcPct val="0"/>
              </a:spcBef>
            </a:pPr>
            <a:r>
              <a:rPr lang="en-US" sz="5810" spc="-458" strike="noStrike" u="none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Buisness Model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-737536" y="568439"/>
            <a:ext cx="8407984" cy="662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530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Demo Readiness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92702" y="1381245"/>
            <a:ext cx="10619541" cy="842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19"/>
              </a:lnSpc>
              <a:spcBef>
                <a:spcPct val="0"/>
              </a:spcBef>
            </a:pPr>
            <a:r>
              <a:rPr lang="en-US" sz="3999" spc="-31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Sentinal Core </a:t>
            </a:r>
            <a:r>
              <a:rPr lang="en-US" sz="3999" spc="-31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is fully functional and demo-ready.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92702" y="2875419"/>
            <a:ext cx="7539990" cy="3613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19"/>
              </a:lnSpc>
              <a:spcBef>
                <a:spcPct val="0"/>
              </a:spcBef>
            </a:pPr>
            <a:r>
              <a:rPr lang="en-US" sz="3999" spc="-31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✅ Live transaction streams</a:t>
            </a:r>
          </a:p>
          <a:p>
            <a:pPr algn="l">
              <a:lnSpc>
                <a:spcPts val="7319"/>
              </a:lnSpc>
              <a:spcBef>
                <a:spcPct val="0"/>
              </a:spcBef>
            </a:pPr>
            <a:r>
              <a:rPr lang="en-US" sz="3999" spc="-31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✅ Real-time mismatch detection</a:t>
            </a:r>
          </a:p>
          <a:p>
            <a:pPr algn="l">
              <a:lnSpc>
                <a:spcPts val="7319"/>
              </a:lnSpc>
              <a:spcBef>
                <a:spcPct val="0"/>
              </a:spcBef>
            </a:pPr>
            <a:r>
              <a:rPr lang="en-US" sz="3999" spc="-31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✅ Interactive dashboard &amp; alerts</a:t>
            </a:r>
          </a:p>
          <a:p>
            <a:pPr algn="l">
              <a:lnSpc>
                <a:spcPts val="7319"/>
              </a:lnSpc>
              <a:spcBef>
                <a:spcPct val="0"/>
              </a:spcBef>
            </a:pPr>
            <a:r>
              <a:rPr lang="en-US" sz="3999" spc="-31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✅ End-to-end demo recorded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3897311" y="506895"/>
            <a:ext cx="4390689" cy="1716360"/>
          </a:xfrm>
          <a:custGeom>
            <a:avLst/>
            <a:gdLst/>
            <a:ahLst/>
            <a:cxnLst/>
            <a:rect r="r" b="b" t="t" l="l"/>
            <a:pathLst>
              <a:path h="1716360" w="4390689">
                <a:moveTo>
                  <a:pt x="0" y="0"/>
                </a:moveTo>
                <a:lnTo>
                  <a:pt x="4390689" y="0"/>
                </a:lnTo>
                <a:lnTo>
                  <a:pt x="4390689" y="1716361"/>
                </a:lnTo>
                <a:lnTo>
                  <a:pt x="0" y="17163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631880" y="7317879"/>
            <a:ext cx="13692544" cy="587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b="true" sz="34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System is demonstrable within the demo video as required.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73456" y="918486"/>
            <a:ext cx="5385167" cy="1024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920"/>
              </a:lnSpc>
            </a:pPr>
            <a:r>
              <a:rPr lang="en-US" sz="720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The Vision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50817" y="5962378"/>
            <a:ext cx="16208483" cy="2603341"/>
            <a:chOff x="0" y="0"/>
            <a:chExt cx="21611311" cy="3471121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1640791"/>
              <a:ext cx="6216242" cy="12831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1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Real-time detection &amp; auto-mitigation.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-53515"/>
              <a:ext cx="6216242" cy="14473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480"/>
                </a:lnSpc>
                <a:spcBef>
                  <a:spcPct val="0"/>
                </a:spcBef>
              </a:pPr>
              <a:r>
                <a:rPr lang="en-US" sz="3200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Phase 1 (Now): The Immune System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7668046" y="1646681"/>
              <a:ext cx="6245731" cy="18244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723"/>
                </a:lnSpc>
                <a:spcBef>
                  <a:spcPct val="0"/>
                </a:spcBef>
              </a:pPr>
              <a:r>
                <a:rPr lang="en-US" sz="2659" u="none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AI predicts bank failures before transactions are sent.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7668046" y="-47625"/>
              <a:ext cx="6245731" cy="14378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479"/>
                </a:lnSpc>
                <a:spcBef>
                  <a:spcPct val="0"/>
                </a:spcBef>
              </a:pPr>
              <a:r>
                <a:rPr lang="en-US" sz="3199" u="none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Phase 2 (Next): Predictive Routing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15365580" y="1637156"/>
              <a:ext cx="6245731" cy="12831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1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A universal verification layer for Banks &amp; DeFi.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15365580" y="-47625"/>
              <a:ext cx="6245731" cy="14378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479"/>
                </a:lnSpc>
                <a:spcBef>
                  <a:spcPct val="0"/>
                </a:spcBef>
              </a:pPr>
              <a:r>
                <a:rPr lang="en-US" sz="3199" u="none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Phase 3 (Future): The Trust Protocol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995779" y="3314976"/>
            <a:ext cx="10731610" cy="1272128"/>
            <a:chOff x="0" y="0"/>
            <a:chExt cx="2826432" cy="33504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826432" cy="335046"/>
            </a:xfrm>
            <a:custGeom>
              <a:avLst/>
              <a:gdLst/>
              <a:ahLst/>
              <a:cxnLst/>
              <a:rect r="r" b="b" t="t" l="l"/>
              <a:pathLst>
                <a:path h="335046" w="2826432">
                  <a:moveTo>
                    <a:pt x="0" y="0"/>
                  </a:moveTo>
                  <a:lnTo>
                    <a:pt x="2826432" y="0"/>
                  </a:lnTo>
                  <a:lnTo>
                    <a:pt x="2826432" y="335046"/>
                  </a:lnTo>
                  <a:lnTo>
                    <a:pt x="0" y="335046"/>
                  </a:lnTo>
                  <a:close/>
                </a:path>
              </a:pathLst>
            </a:custGeom>
            <a:solidFill>
              <a:srgbClr val="A6A6A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826432" cy="3731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3995779" y="3471932"/>
            <a:ext cx="10731610" cy="1024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920"/>
              </a:lnSpc>
            </a:pPr>
            <a:r>
              <a:rPr lang="en-US" sz="72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Autonomous Finance</a:t>
            </a:r>
          </a:p>
        </p:txBody>
      </p:sp>
      <p:grpSp>
        <p:nvGrpSpPr>
          <p:cNvPr name="Group 15" id="15"/>
          <p:cNvGrpSpPr/>
          <p:nvPr/>
        </p:nvGrpSpPr>
        <p:grpSpPr>
          <a:xfrm rot="-10800000">
            <a:off x="5563628" y="5962378"/>
            <a:ext cx="789988" cy="531458"/>
            <a:chOff x="0" y="0"/>
            <a:chExt cx="647700" cy="43573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47700" cy="435735"/>
            </a:xfrm>
            <a:custGeom>
              <a:avLst/>
              <a:gdLst/>
              <a:ahLst/>
              <a:cxnLst/>
              <a:rect r="r" b="b" t="t" l="l"/>
              <a:pathLst>
                <a:path h="435735" w="647700">
                  <a:moveTo>
                    <a:pt x="239386" y="165785"/>
                  </a:moveTo>
                  <a:lnTo>
                    <a:pt x="647700" y="165785"/>
                  </a:lnTo>
                  <a:lnTo>
                    <a:pt x="647700" y="269930"/>
                  </a:lnTo>
                  <a:lnTo>
                    <a:pt x="239373" y="269930"/>
                  </a:lnTo>
                  <a:lnTo>
                    <a:pt x="302255" y="435735"/>
                  </a:lnTo>
                  <a:lnTo>
                    <a:pt x="0" y="217867"/>
                  </a:lnTo>
                  <a:lnTo>
                    <a:pt x="302255" y="0"/>
                  </a:lnTo>
                  <a:lnTo>
                    <a:pt x="239386" y="165785"/>
                  </a:lnTo>
                  <a:close/>
                </a:path>
              </a:pathLst>
            </a:custGeom>
            <a:solidFill>
              <a:srgbClr val="9D9993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120650" y="127000"/>
              <a:ext cx="527050" cy="1436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-10800000">
            <a:off x="11015770" y="5962378"/>
            <a:ext cx="789988" cy="531458"/>
            <a:chOff x="0" y="0"/>
            <a:chExt cx="647700" cy="43573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47700" cy="435735"/>
            </a:xfrm>
            <a:custGeom>
              <a:avLst/>
              <a:gdLst/>
              <a:ahLst/>
              <a:cxnLst/>
              <a:rect r="r" b="b" t="t" l="l"/>
              <a:pathLst>
                <a:path h="435735" w="647700">
                  <a:moveTo>
                    <a:pt x="239386" y="165785"/>
                  </a:moveTo>
                  <a:lnTo>
                    <a:pt x="647700" y="165785"/>
                  </a:lnTo>
                  <a:lnTo>
                    <a:pt x="647700" y="269930"/>
                  </a:lnTo>
                  <a:lnTo>
                    <a:pt x="239373" y="269930"/>
                  </a:lnTo>
                  <a:lnTo>
                    <a:pt x="302255" y="435735"/>
                  </a:lnTo>
                  <a:lnTo>
                    <a:pt x="0" y="217867"/>
                  </a:lnTo>
                  <a:lnTo>
                    <a:pt x="302255" y="0"/>
                  </a:lnTo>
                  <a:lnTo>
                    <a:pt x="239386" y="165785"/>
                  </a:lnTo>
                  <a:close/>
                </a:path>
              </a:pathLst>
            </a:custGeom>
            <a:solidFill>
              <a:srgbClr val="9D9993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120650" y="127000"/>
              <a:ext cx="527050" cy="1436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13897311" y="407579"/>
            <a:ext cx="4390689" cy="1716360"/>
          </a:xfrm>
          <a:custGeom>
            <a:avLst/>
            <a:gdLst/>
            <a:ahLst/>
            <a:cxnLst/>
            <a:rect r="r" b="b" t="t" l="l"/>
            <a:pathLst>
              <a:path h="1716360" w="4390689">
                <a:moveTo>
                  <a:pt x="0" y="0"/>
                </a:moveTo>
                <a:lnTo>
                  <a:pt x="4390689" y="0"/>
                </a:lnTo>
                <a:lnTo>
                  <a:pt x="4390689" y="1716360"/>
                </a:lnTo>
                <a:lnTo>
                  <a:pt x="0" y="17163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530338" y="324570"/>
            <a:ext cx="13227325" cy="986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20"/>
              </a:lnSpc>
            </a:pPr>
            <a:r>
              <a:rPr lang="en-US" sz="58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Research &amp; Sources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30491" y="2219783"/>
            <a:ext cx="16627018" cy="7480881"/>
            <a:chOff x="0" y="0"/>
            <a:chExt cx="22169357" cy="9974508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47625"/>
              <a:ext cx="22169357" cy="56803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399"/>
                </a:lnSpc>
              </a:pPr>
              <a:r>
                <a:rPr lang="en-US" sz="2428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Title: Intelligent </a:t>
              </a:r>
              <a:r>
                <a:rPr lang="en-US" sz="2428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Algorithms for the Detection of Suspicious Transactions in Payment Data Management Systems Based on LSTM Neural Networks</a:t>
              </a:r>
            </a:p>
            <a:p>
              <a:pPr algn="just">
                <a:lnSpc>
                  <a:spcPts val="3399"/>
                </a:lnSpc>
              </a:pPr>
              <a:r>
                <a:rPr lang="en-US" sz="2428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Mukhamadiyev, A., Nazarov, F., Yarmatov, S., &amp; Cho, J. (2025)</a:t>
              </a:r>
            </a:p>
            <a:p>
              <a:pPr algn="just">
                <a:lnSpc>
                  <a:spcPts val="3399"/>
                </a:lnSpc>
              </a:pPr>
              <a:r>
                <a:rPr lang="en-US" sz="2428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Link: https://doi.org/10.3390/s25216683</a:t>
              </a:r>
            </a:p>
            <a:p>
              <a:pPr algn="just">
                <a:lnSpc>
                  <a:spcPts val="3399"/>
                </a:lnSpc>
              </a:pPr>
            </a:p>
            <a:p>
              <a:pPr algn="just">
                <a:lnSpc>
                  <a:spcPts val="3399"/>
                </a:lnSpc>
              </a:pPr>
              <a:r>
                <a:rPr lang="en-US" sz="2428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Title: A Deep Learning Based Hybrid Model Using LSTM and CNN Techniques for Automated Internal Fraud Detection in Banking Systems</a:t>
              </a:r>
            </a:p>
            <a:p>
              <a:pPr algn="just">
                <a:lnSpc>
                  <a:spcPts val="3399"/>
                </a:lnSpc>
              </a:pPr>
              <a:r>
                <a:rPr lang="en-US" sz="2428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 Pillai, R. P., &amp; Latha, D. P. P. (2025)</a:t>
              </a:r>
            </a:p>
            <a:p>
              <a:pPr algn="just">
                <a:lnSpc>
                  <a:spcPts val="3399"/>
                </a:lnSpc>
              </a:pPr>
              <a:r>
                <a:rPr lang="en-US" sz="2428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Link: https://www.jisem-journal.com/</a:t>
              </a:r>
            </a:p>
            <a:p>
              <a:pPr algn="just">
                <a:lnSpc>
                  <a:spcPts val="3399"/>
                </a:lnSpc>
              </a:pP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5524621"/>
              <a:ext cx="20821726" cy="28233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81"/>
                </a:lnSpc>
              </a:pPr>
              <a:r>
                <a:rPr lang="en-US" sz="2415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Title: Adaptive Anomaly Detection in Database Transactions: Bridging Security Gaps with Reinforcement Learning</a:t>
              </a:r>
            </a:p>
            <a:p>
              <a:pPr algn="l">
                <a:lnSpc>
                  <a:spcPts val="3381"/>
                </a:lnSpc>
              </a:pPr>
              <a:r>
                <a:rPr lang="en-US" sz="2415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Reddy, C., Prabhagaran, S., &amp; Vaid, A. (2025)</a:t>
              </a:r>
            </a:p>
            <a:p>
              <a:pPr algn="l">
                <a:lnSpc>
                  <a:spcPts val="3381"/>
                </a:lnSpc>
              </a:pPr>
              <a:r>
                <a:rPr lang="en-US" sz="2415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Link: https://doi.org/10.24018/ejai.2025.4.2.53</a:t>
              </a:r>
            </a:p>
            <a:p>
              <a:pPr algn="l">
                <a:lnSpc>
                  <a:spcPts val="3381"/>
                </a:lnSpc>
              </a:pP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8294180"/>
              <a:ext cx="20821726" cy="16803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81"/>
                </a:lnSpc>
              </a:pPr>
              <a:r>
                <a:rPr lang="en-US" sz="2415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Title: A Suspicious Financial Transaction Detection Model Using Autoencoder and Risk-Based Approach </a:t>
              </a:r>
            </a:p>
            <a:p>
              <a:pPr algn="l">
                <a:lnSpc>
                  <a:spcPts val="3381"/>
                </a:lnSpc>
              </a:pP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1250509" y="2938298"/>
            <a:ext cx="3261144" cy="3261144"/>
            <a:chOff x="0" y="0"/>
            <a:chExt cx="8790178" cy="879017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149225" y="149225"/>
              <a:ext cx="8491728" cy="8491728"/>
            </a:xfrm>
            <a:custGeom>
              <a:avLst/>
              <a:gdLst/>
              <a:ahLst/>
              <a:cxnLst/>
              <a:rect r="r" b="b" t="t" l="l"/>
              <a:pathLst>
                <a:path h="8491728" w="8491728">
                  <a:moveTo>
                    <a:pt x="0" y="0"/>
                  </a:moveTo>
                  <a:lnTo>
                    <a:pt x="8491728" y="0"/>
                  </a:lnTo>
                  <a:lnTo>
                    <a:pt x="8491728" y="8491728"/>
                  </a:lnTo>
                  <a:lnTo>
                    <a:pt x="0" y="8491728"/>
                  </a:lnTo>
                  <a:close/>
                </a:path>
              </a:pathLst>
            </a:custGeom>
            <a:blipFill>
              <a:blip r:embed="rId3"/>
              <a:stretch>
                <a:fillRect l="-9672" t="0" r="-9672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790178" cy="8790178"/>
            </a:xfrm>
            <a:custGeom>
              <a:avLst/>
              <a:gdLst/>
              <a:ahLst/>
              <a:cxnLst/>
              <a:rect r="r" b="b" t="t" l="l"/>
              <a:pathLst>
                <a:path h="8790178" w="8790178">
                  <a:moveTo>
                    <a:pt x="8790178" y="8790178"/>
                  </a:moveTo>
                  <a:lnTo>
                    <a:pt x="0" y="8790178"/>
                  </a:lnTo>
                  <a:lnTo>
                    <a:pt x="0" y="0"/>
                  </a:lnTo>
                  <a:lnTo>
                    <a:pt x="8790178" y="0"/>
                  </a:lnTo>
                  <a:lnTo>
                    <a:pt x="8790178" y="8790178"/>
                  </a:lnTo>
                  <a:close/>
                  <a:moveTo>
                    <a:pt x="19050" y="8771128"/>
                  </a:moveTo>
                  <a:lnTo>
                    <a:pt x="8771128" y="8771128"/>
                  </a:lnTo>
                  <a:lnTo>
                    <a:pt x="8771128" y="19050"/>
                  </a:lnTo>
                  <a:lnTo>
                    <a:pt x="19050" y="19050"/>
                  </a:lnTo>
                  <a:lnTo>
                    <a:pt x="19050" y="8771128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5425788" y="2938298"/>
            <a:ext cx="3261144" cy="3261144"/>
            <a:chOff x="0" y="0"/>
            <a:chExt cx="8790178" cy="879017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49225" y="149225"/>
              <a:ext cx="8491728" cy="8491728"/>
            </a:xfrm>
            <a:custGeom>
              <a:avLst/>
              <a:gdLst/>
              <a:ahLst/>
              <a:cxnLst/>
              <a:rect r="r" b="b" t="t" l="l"/>
              <a:pathLst>
                <a:path h="8491728" w="8491728">
                  <a:moveTo>
                    <a:pt x="0" y="0"/>
                  </a:moveTo>
                  <a:lnTo>
                    <a:pt x="8491728" y="0"/>
                  </a:lnTo>
                  <a:lnTo>
                    <a:pt x="8491728" y="8491728"/>
                  </a:lnTo>
                  <a:lnTo>
                    <a:pt x="0" y="8491728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790178" cy="8790178"/>
            </a:xfrm>
            <a:custGeom>
              <a:avLst/>
              <a:gdLst/>
              <a:ahLst/>
              <a:cxnLst/>
              <a:rect r="r" b="b" t="t" l="l"/>
              <a:pathLst>
                <a:path h="8790178" w="8790178">
                  <a:moveTo>
                    <a:pt x="8790178" y="8790178"/>
                  </a:moveTo>
                  <a:lnTo>
                    <a:pt x="0" y="8790178"/>
                  </a:lnTo>
                  <a:lnTo>
                    <a:pt x="0" y="0"/>
                  </a:lnTo>
                  <a:lnTo>
                    <a:pt x="8790178" y="0"/>
                  </a:lnTo>
                  <a:lnTo>
                    <a:pt x="8790178" y="8790178"/>
                  </a:lnTo>
                  <a:close/>
                  <a:moveTo>
                    <a:pt x="19050" y="8771128"/>
                  </a:moveTo>
                  <a:lnTo>
                    <a:pt x="8771128" y="8771128"/>
                  </a:lnTo>
                  <a:lnTo>
                    <a:pt x="8771128" y="19050"/>
                  </a:lnTo>
                  <a:lnTo>
                    <a:pt x="19050" y="19050"/>
                  </a:lnTo>
                  <a:lnTo>
                    <a:pt x="19050" y="8771128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9601067" y="2938298"/>
            <a:ext cx="3261144" cy="3261144"/>
            <a:chOff x="0" y="0"/>
            <a:chExt cx="8790178" cy="879017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49225" y="149225"/>
              <a:ext cx="8491728" cy="8491728"/>
            </a:xfrm>
            <a:custGeom>
              <a:avLst/>
              <a:gdLst/>
              <a:ahLst/>
              <a:cxnLst/>
              <a:rect r="r" b="b" t="t" l="l"/>
              <a:pathLst>
                <a:path h="8491728" w="8491728">
                  <a:moveTo>
                    <a:pt x="0" y="0"/>
                  </a:moveTo>
                  <a:lnTo>
                    <a:pt x="8491728" y="0"/>
                  </a:lnTo>
                  <a:lnTo>
                    <a:pt x="8491728" y="8491728"/>
                  </a:lnTo>
                  <a:lnTo>
                    <a:pt x="0" y="8491728"/>
                  </a:lnTo>
                  <a:close/>
                </a:path>
              </a:pathLst>
            </a:custGeom>
            <a:blipFill>
              <a:blip r:embed="rId5"/>
              <a:stretch>
                <a:fillRect l="-13033" t="0" r="-13033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790178" cy="8790178"/>
            </a:xfrm>
            <a:custGeom>
              <a:avLst/>
              <a:gdLst/>
              <a:ahLst/>
              <a:cxnLst/>
              <a:rect r="r" b="b" t="t" l="l"/>
              <a:pathLst>
                <a:path h="8790178" w="8790178">
                  <a:moveTo>
                    <a:pt x="8790178" y="8790178"/>
                  </a:moveTo>
                  <a:lnTo>
                    <a:pt x="0" y="8790178"/>
                  </a:lnTo>
                  <a:lnTo>
                    <a:pt x="0" y="0"/>
                  </a:lnTo>
                  <a:lnTo>
                    <a:pt x="8790178" y="0"/>
                  </a:lnTo>
                  <a:lnTo>
                    <a:pt x="8790178" y="8790178"/>
                  </a:lnTo>
                  <a:close/>
                  <a:moveTo>
                    <a:pt x="19050" y="8771128"/>
                  </a:moveTo>
                  <a:lnTo>
                    <a:pt x="8771128" y="8771128"/>
                  </a:lnTo>
                  <a:lnTo>
                    <a:pt x="8771128" y="19050"/>
                  </a:lnTo>
                  <a:lnTo>
                    <a:pt x="19050" y="19050"/>
                  </a:lnTo>
                  <a:lnTo>
                    <a:pt x="19050" y="8771128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13776346" y="2938298"/>
            <a:ext cx="3261144" cy="3261144"/>
            <a:chOff x="0" y="0"/>
            <a:chExt cx="8790178" cy="879017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49225" y="149225"/>
              <a:ext cx="8491728" cy="8491728"/>
            </a:xfrm>
            <a:custGeom>
              <a:avLst/>
              <a:gdLst/>
              <a:ahLst/>
              <a:cxnLst/>
              <a:rect r="r" b="b" t="t" l="l"/>
              <a:pathLst>
                <a:path h="8491728" w="8491728">
                  <a:moveTo>
                    <a:pt x="0" y="0"/>
                  </a:moveTo>
                  <a:lnTo>
                    <a:pt x="8491728" y="0"/>
                  </a:lnTo>
                  <a:lnTo>
                    <a:pt x="8491728" y="8491728"/>
                  </a:lnTo>
                  <a:lnTo>
                    <a:pt x="0" y="8491728"/>
                  </a:lnTo>
                  <a:close/>
                </a:path>
              </a:pathLst>
            </a:custGeom>
            <a:blipFill>
              <a:blip r:embed="rId6"/>
              <a:stretch>
                <a:fillRect l="-1140" t="0" r="-114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790178" cy="8790178"/>
            </a:xfrm>
            <a:custGeom>
              <a:avLst/>
              <a:gdLst/>
              <a:ahLst/>
              <a:cxnLst/>
              <a:rect r="r" b="b" t="t" l="l"/>
              <a:pathLst>
                <a:path h="8790178" w="8790178">
                  <a:moveTo>
                    <a:pt x="8790178" y="8790178"/>
                  </a:moveTo>
                  <a:lnTo>
                    <a:pt x="0" y="8790178"/>
                  </a:lnTo>
                  <a:lnTo>
                    <a:pt x="0" y="0"/>
                  </a:lnTo>
                  <a:lnTo>
                    <a:pt x="8790178" y="0"/>
                  </a:lnTo>
                  <a:lnTo>
                    <a:pt x="8790178" y="8790178"/>
                  </a:lnTo>
                  <a:close/>
                  <a:moveTo>
                    <a:pt x="19050" y="8771128"/>
                  </a:moveTo>
                  <a:lnTo>
                    <a:pt x="8771128" y="8771128"/>
                  </a:lnTo>
                  <a:lnTo>
                    <a:pt x="8771128" y="19050"/>
                  </a:lnTo>
                  <a:lnTo>
                    <a:pt x="19050" y="19050"/>
                  </a:lnTo>
                  <a:lnTo>
                    <a:pt x="19050" y="8771128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5542303" y="1123950"/>
            <a:ext cx="7203393" cy="78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08"/>
              </a:lnSpc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Our team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15229" y="6547601"/>
            <a:ext cx="3931704" cy="33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4"/>
              </a:lnSpc>
            </a:pPr>
            <a:r>
              <a:rPr lang="en-US" b="true" sz="1996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Aryan Dani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968721" y="6547601"/>
            <a:ext cx="4175279" cy="33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4"/>
              </a:lnSpc>
            </a:pPr>
            <a:r>
              <a:rPr lang="en-US" b="true" sz="1996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Anant Kulkarni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50509" y="7033397"/>
            <a:ext cx="3261144" cy="315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1"/>
              </a:lnSpc>
            </a:pPr>
            <a:r>
              <a:rPr lang="en-US" sz="190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Leader, Architect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425788" y="7033397"/>
            <a:ext cx="3261144" cy="315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1"/>
              </a:lnSpc>
            </a:pPr>
            <a:r>
              <a:rPr lang="en-US" sz="190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Backend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174347" y="6547601"/>
            <a:ext cx="4114584" cy="33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4"/>
              </a:lnSpc>
            </a:pPr>
            <a:r>
              <a:rPr lang="en-US" b="true" sz="1996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Himali Dandavate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601067" y="7033397"/>
            <a:ext cx="3261144" cy="315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1"/>
              </a:lnSpc>
            </a:pPr>
            <a:r>
              <a:rPr lang="en-US" sz="190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Model Training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380106" y="6547601"/>
            <a:ext cx="4053624" cy="33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4"/>
              </a:lnSpc>
            </a:pPr>
            <a:r>
              <a:rPr lang="en-US" b="true" sz="1996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Raghav Vyavahare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776346" y="7033397"/>
            <a:ext cx="3261144" cy="315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1"/>
              </a:lnSpc>
            </a:pPr>
            <a:r>
              <a:rPr lang="en-US" sz="190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Azure Microservices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384460" y="3255495"/>
            <a:ext cx="9519080" cy="111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35"/>
              </a:lnSpc>
            </a:pPr>
            <a:r>
              <a:rPr lang="en-US" sz="9789" spc="-773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Thank you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693887" y="6108459"/>
            <a:ext cx="9425204" cy="3013837"/>
            <a:chOff x="0" y="0"/>
            <a:chExt cx="12566939" cy="4018450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1207631"/>
              <a:ext cx="2866063" cy="4402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 b="true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E-mail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2866063" y="1176092"/>
              <a:ext cx="7149738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daniaryan212@gmail.com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997815"/>
              <a:ext cx="2866063" cy="4402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 b="true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Social Media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2866063" y="1966276"/>
              <a:ext cx="7750006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https://www.linkedin.com/in/aryandani/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2787999"/>
              <a:ext cx="2866063" cy="4402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 b="true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Phone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2866063" y="2756460"/>
              <a:ext cx="7149738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+91 8668205450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3578183"/>
              <a:ext cx="2866063" cy="4402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 b="true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Address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2866063" y="3546645"/>
              <a:ext cx="9700876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A-704, Victoria Garden, Kalyani Nagar, Pune, 411006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-47625"/>
              <a:ext cx="6352918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b="true" sz="2100" u="none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CONTACT US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DAG97_9TgNw</dc:identifier>
  <dcterms:modified xsi:type="dcterms:W3CDTF">2011-08-01T06:04:30Z</dcterms:modified>
  <cp:revision>1</cp:revision>
  <dc:title>MS Imagine Cup Pitch Deck</dc:title>
</cp:coreProperties>
</file>